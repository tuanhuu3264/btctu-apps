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7" r:id="rId2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bài trả lời có hai phần. Phần 1 là bộ tiêu chí KPI/OKR cho cán bộ, công chức và tập thể. Phần 2 là xác định cấp độ an toàn thông tin và phương án bảo đảm. Phần mềm (yêu cầu 2) đã được xây dựng và dùng để minh họa.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rõ ba nhãn: có căn cứ, đề xuất, đã cài. Điều văn bản không nói đều được ghi là đề xuất, không trình bày như quy định.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cá nhân và tập thể dùng thang 100. Tiêu chí chung của cá nhân chấm theo từng mục của văn bản: 05-HD/TU Phụ lục 03 cho cán bộ lãnh đạo, quản lý (17 mục), Nghị định 335 Phụ lục II Mẫu số 01 cho công chức (10 mục); mỗi mục chỉ có Đảm bảo (điểm tối đa của mục) hoặc Không đảm bảo (0 điểm, phải ghi căn cứ). Xếp loại theo ngưỡng 90, 70, 50 kèm điều kiện đi theo. Nghị định 335 là căn cứ chính vì có cấp pháp lý cao hơn 05-HD/TU.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mục có 49 công việc: nhóm A 7, B 24, C 14, D 4. Sai sót hoặc chậm do nguyên nhân khách quan được cấp có thẩm quyền xác nhận thì không bị trừ (Điều 14.2). Phần mềm cho người xác nhận kết quả của việc miễn trừ từng lần chậm hoặc chưa đạt kèm nguyên nhân và căn cứ, ngay khi duyệt hoặc sau đó; thu hồi được, có nhật ký (ADR-056). Ai là cấp có thẩm quyền là giả định cần xác nhận (GAP G-38). Hồ sơ đã tự chấm thì số liệu đã chốt, miễn trừ cấp sau đó không đổi hồ sơ đó.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kết quả = KPI nhân 70. Tổng điểm = tiêu chí chung cộng điểm kết quả. Phần mềm coi vị trí cấp 1 đến 4 là lãnh đạo quản lý theo mặc định (GAP G-21).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quy đổi được giao là 26,4444. Cùng số liệu nhưng là cán bộ lãnh đạo với d = 100%, đ = 100%, e = 50%: KPI = 0,8575, điểm kết quả 60,02, tổng 85,02. Mức hoàn thành tốt nếu đáp ứng điều kiện đi kèm.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Chưa đủ 6 tháng công tác trong năm thì không xếp loại (Điều 11.1). Các trường hợp hoãn của 05-HD/TU mục 8 chưa cài (GAP G-18). Quý chấm trực tiếp; năm là trung bình các tháng đã phê duyệt. Tháng nghỉ có căn cứ không tính vào trung bình; chưa đủ 6 tháng thì đóng hồ sơ là không xếp loại.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Xếp loại tập thể theo năm, trước ngày 15 tháng 12 (phần mềm nhắc và cảnh báo quá hạn); đơn vị cấp dưới đánh giá trước cấp trên. Bốn số liệu tham chiếu tự động. Phần mềm chấm theo sáu trục cấu hình được, báo cáo tách theo trục; có khiếu nại chưa kết luận thì chưa công nhận được (Điều 9.2.a).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dùng điều kiện của tập thể theo Điều 8. 39-QĐ/TU Điều 11.1.1 còn nêu điều kiện không có đơn vị trực thuộc hoặc thành viên bị kỷ luật cho mức xuất sắc; Nghị định được ưu tiên, người thẩm định cần kiểm cả hai. Với cá nhân, 39-QĐ/TU Điều 11 mục 4.2, 4.3 liệt kê các trường hợp xếp Không hoàn thành không phụ thuộc điểm: kỷ luật do vi phạm chức trách, công vụ; kết luận suy thoái; trên 50% phiếu tín nhiệm thấp; tham nhũng trong phạm vi quản lý; đơn vị phụ trách hoàn thành dưới 70% (lãnh đạo) hoặc trên 50% nhiệm vụ chưa xong (người khác). Phần mềm ghi nhận các sự kiện đó và tự xếp khi thẩm định hồ sơ năm; văn bản có năm ngoại lệ (tự giác khắc phục, đã tính năm trước, vi phạm ở đơn vị cũ, bất khả kháng, không thể biết) nên người phê duyệt chọn ngoại lệ kèm căn cứ để giữ mức theo điểm (ADR-055, giả định ở GAP G-37). Hạn mức xuất sắc của cá nhân: phần mềm gợi ý theo thứ tự điểm trong nhóm cùng đơn vị và loại vị trí, tối đa 20% số hoàn thành tốt (25% nếu cấp có thẩm quyền áp dụng cho đơn vị nổi trội), nhóm từ 5 người trở xuống được chọn 1 người, bằng điểm ở ranh giới thì cấp có thẩm quyền xem xét; không tự hạ bậc (ADR-060, giả định ở GAP G-40).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Tỷ lệ hoàn thành trên trang OKR theo dõi là tỷ lệ việc đã giao hoàn thành, không phải mức đạt của chỉ tiêu trong câu chữ. Cột OKR của 39 vị trí: 11 dạng O và KR, 8 chỉ KR, 6 dạng KPI và OKR, 7 các câu liền nhau, 7 dạng chỉ đạo không đo được. Tra cứu ngoài tháng 10/2026: Hà Nội dùng OKR/KPI (Quy định 11-QĐ/TU), nhưng nguồn công khai không nêu cách quy đổi OKR thành điểm; Khánh Hòa dùng KPI không dùng OKR; chưa có căn cứ chấm theo OKR. Phiếu mẫu 05-HD/TU có dòng nhận xét mức độ đáp ứng mục tiêu, nhiệm vụ then chốt (GAP G-31).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39-QĐ/TU Điều 19.3 giao Ban Tổ chức Tỉnh ủy thẩm định kết quả theo phân cấp. Với tập thể là Ban, Ban Thường vụ Tỉnh ủy quyết định; phần mềm cho một tài khoản có quyền riêng của đại diện Ban Thường vụ thực hiện bước này. Phát hiện kết quả đã phê duyệt không bảo đảm điều kiện thì người phê duyệt hoặc cấp trên hủy kết quả kèm lý do; hồ sơ về bước giao mục tiêu để xếp loại lại, kết quả cũ lưu nguyên và có nhật ký (ADR-059; tham khảo Quy định 143-QĐ/TU Khánh Hòa Điều 2.7).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điểm này đã được phần mềm xử lý bằng một giả định có ghi rõ và có thể đổi, nên chọn khác thì sửa cấu hình, không phải làm lại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Nội dung bí mật nhà nước không được đưa vào hệ thống này. Đây là điều kiện để kết luận cấp độ đứng vững; nếu có nhu cầu thì phải xây hệ thống riêng và xác định lại cấp độ.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Hồ sơ đề xuất cấp độ theo Điều 15 gồm bốn phần: mô tả thuyết minh, thiết kế, thuyết minh đề xuất cấp độ theo tiêu chí, thuyết minh phương án bảo đảm. Kiểm tra đánh giá hằng năm với hệ thống cấp 3. Các văn bản có thể đã được sửa đổi, cần kiểm tra trước khi nộp (GAP G-07).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nhóm rủi ro ứng với một nhóm biện pháp ở slide sau: phân quyền và nhật ký bất biến cho toàn vẹn và nội bộ, sao lưu cho sẵn sàng, nhãn và quy tắc không lưu nội dung cho bí mật nhà nước, quét thư viện cho chuỗi cung ứng.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lớp: quản lý, mạng và hạ tầng, ứng dụng, dữ liệu. Xác thực nhiều lớp TOTP theo Quy định 342 Điều 7 đã có (ADR-048); khi vận hành thật bật MFA_MODE=required. Phiên tự đóng sau 30 phút không thao tác, cảnh báo trước 2 phút (ADR-057). Sao lưu có mã hóa, chép sang nơi thứ hai và thử phục hồi đã có công cụ (ADR-058); mã hóa dữ liệu khi lưu ở cơ sở dữ liệu và kho tệp còn là việc của hạ tầng.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thẳng điều chưa có để cơ quan chuyên trách đánh giá đúng. Mẫu cấu hình Nginx với TLS, X-Forwarded-For và TRUST_PROXY đã kiểm với Nginx thật dùng chứng chỉ tự ký; HSTS và cookie Secure với chứng chỉ được tin cậy chưa kiểm. Công cụ sao lưu đã chạy thật: sao lưu có mã hóa, thử phục hồi vào cơ sở dữ liệu tạm, phục hồi vào cơ sở dữ liệu trống, phát hiện bản bị sửa và sai khóa; chưa đặt lịch chạy và chưa có nơi lưu thứ hai thật (GAP G-39).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điều kiện nền của kết luận cấp độ 3. Nếu nội dung mật xuất hiện thì cấp độ phải xem lại và phải dùng hệ thống riêng.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2 đã có mẫu cấu hình Nginx kiểm với Nginx thật: TLS, ghi đè X-Forwarded-For, TRUST_PROXY bằng 1. Mục 8 là điều kiện để kết nối nền tảng chia sẻ dữ liệu của Đảng.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1 quan trọng nhất: nếu cơ quan xác nhận không kết nối Trung ương thì cấp 2 đủ về pháp lý, kết luận đổi thành cấp 2 kèm điều kiện nâng lên cấp 3 trước khi kết nối.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bằng hai câu trả lời ngắn và việc cần Ban xác nhận. Nhắc lại: mọi điểm văn bản không quy định đều được ghi là đề xuất hoặc giả định để cấp có thẩm quyền quyết định.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33A"/>
        </a:solidFill>
        <a:effectLst/>
      </p:bgPr>
    </p:bg>
    <p:spTree>
      <p:nvGrpSpPr>
        <p:cNvPr id="1" name=""/>
        <p:cNvGrpSpPr/>
        <p:nvPr/>
      </p:nvGrpSpPr>
      <p:grpSpPr/>
      <p:sp>
        <p:nvSpPr>
          <p:cNvPr id="2" name="TextBox 1"/>
          <p:cNvSpPr txBox="1"/>
          <p:nvPr/>
        </p:nvSpPr>
        <p:spPr>
          <a:xfrm>
            <a:off x="548640" y="1554480"/>
            <a:ext cx="11094415" cy="365760"/>
          </a:xfrm>
          <a:prstGeom prst="rect">
            <a:avLst/>
          </a:prstGeom>
          <a:noFill/>
        </p:spPr>
        <p:txBody>
          <a:bodyPr wrap="square" anchor="t" lIns="0" rIns="0" tIns="0" bIns="0">
            <a:spAutoFit/>
          </a:bodyPr>
          <a:lstStyle/>
          <a:p>
            <a:pPr algn="l">
              <a:spcAft>
                <a:spcPts val="0"/>
              </a:spcAft>
            </a:pPr>
            <a:r>
              <a:rPr sz="1600" b="1" i="0">
                <a:solidFill>
                  <a:srgbClr val="E3B04B"/>
                </a:solidFill>
                <a:latin typeface="Calibri"/>
              </a:rPr>
              <a:t>BAN TỔ CHỨC TỈNH ỦY ĐẮK LẮK</a:t>
            </a:r>
          </a:p>
        </p:txBody>
      </p:sp>
      <p:sp>
        <p:nvSpPr>
          <p:cNvPr id="3" name="Tiêu đề"/>
          <p:cNvSpPr txBox="1"/>
          <p:nvPr/>
        </p:nvSpPr>
        <p:spPr>
          <a:xfrm>
            <a:off x="548640" y="2103120"/>
            <a:ext cx="10241280" cy="2011680"/>
          </a:xfrm>
          <a:prstGeom prst="rect">
            <a:avLst/>
          </a:prstGeom>
          <a:noFill/>
        </p:spPr>
        <p:txBody>
          <a:bodyPr wrap="square" anchor="t" lIns="0" rIns="0" tIns="0" bIns="0">
            <a:spAutoFit/>
          </a:bodyPr>
          <a:lstStyle/>
          <a:p>
            <a:pPr algn="l">
              <a:spcAft>
                <a:spcPts val="0"/>
              </a:spcAft>
            </a:pPr>
            <a:r>
              <a:rPr sz="4800" b="1" i="0">
                <a:solidFill>
                  <a:srgbClr val="F6F4EE"/>
                </a:solidFill>
                <a:latin typeface="Cambria"/>
              </a:rPr>
              <a:t>Phần mềm quản lý, đánh giá kết quả thực hiện nhiệm vụ bằng KPI/OKR</a:t>
            </a:r>
          </a:p>
        </p:txBody>
      </p:sp>
      <p:sp>
        <p:nvSpPr>
          <p:cNvPr id="5" name="TextBox 4"/>
          <p:cNvSpPr txBox="1"/>
          <p:nvPr/>
        </p:nvSpPr>
        <p:spPr>
          <a:xfrm>
            <a:off x="548640" y="6126480"/>
            <a:ext cx="11094415" cy="274320"/>
          </a:xfrm>
          <a:prstGeom prst="rect">
            <a:avLst/>
          </a:prstGeom>
          <a:noFill/>
        </p:spPr>
        <p:txBody>
          <a:bodyPr wrap="square" anchor="t" lIns="0" rIns="0" tIns="0" bIns="0">
            <a:spAutoFit/>
          </a:bodyPr>
          <a:lstStyle/>
          <a:p>
            <a:pPr algn="l">
              <a:spcAft>
                <a:spcPts val="0"/>
              </a:spcAft>
            </a:pPr>
            <a:r>
              <a:rPr sz="1200" b="0" i="0">
                <a:solidFill>
                  <a:srgbClr val="9FB0C7"/>
                </a:solidFill>
                <a:latin typeface="Calibri"/>
              </a:rPr>
              <a:t>Bản đề xuất để cấp có thẩm quyền xem xét · Tháng 10 năm 2026</a:t>
            </a:r>
          </a:p>
        </p:txBody>
      </p:sp>
      <p:sp>
        <p:nvSpPr>
          <p:cNvPr id="6" name="TextBox 5"/>
          <p:cNvSpPr txBox="1"/>
          <p:nvPr/>
        </p:nvSpPr>
        <p:spPr>
          <a:xfrm>
            <a:off x="548640" y="4343400"/>
            <a:ext cx="9601200" cy="500000"/>
          </a:xfrm>
          <a:prstGeom prst="rect">
            <a:avLst/>
          </a:prstGeom>
          <a:noFill/>
        </p:spPr>
        <p:txBody>
          <a:bodyPr wrap="square">
            <a:spAutoFit/>
          </a:bodyPr>
          <a:lstStyle/>
          <a:p>
            <a:r>
              <a:rPr sz="2400">
                <a:solidFill>
                  <a:srgbClr val="F6F4EE"/>
                </a:solidFill>
                <a:latin typeface="Calibri"/>
              </a:rPr>
              <a:t>Đồng chí: Trịnh Hữu Tuấn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NỘI DUNG TRÌNH BÀY</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Ba yêu cầu của đề kiểm tra năng lực</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Phần mềm trong thư mục ma_nguon được dùng để minh họa các nội dung trên</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2</a:t>
            </a:r>
          </a:p>
        </p:txBody>
      </p:sp>
      <p:sp>
        <p:nvSpPr>
          <p:cNvPr id="6" name="Thẻ"/>
          <p:cNvSpPr/>
          <p:nvPr/>
        </p:nvSpPr>
        <p:spPr>
          <a:xfrm>
            <a:off x="548640" y="1627632"/>
            <a:ext cx="3560000" cy="23774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3102800"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YÊU CẦU 1</a:t>
            </a:r>
          </a:p>
        </p:txBody>
      </p:sp>
      <p:sp>
        <p:nvSpPr>
          <p:cNvPr id="8" name="TextBox 7"/>
          <p:cNvSpPr txBox="1"/>
          <p:nvPr/>
        </p:nvSpPr>
        <p:spPr>
          <a:xfrm>
            <a:off x="777240" y="2148840"/>
            <a:ext cx="3102800" cy="359664"/>
          </a:xfrm>
          <a:prstGeom prst="rect">
            <a:avLst/>
          </a:prstGeom>
          <a:noFill/>
        </p:spPr>
        <p:txBody>
          <a:bodyPr wrap="square" anchor="t" lIns="0" rIns="0" tIns="0" bIns="0">
            <a:spAutoFit/>
          </a:bodyPr>
          <a:lstStyle/>
          <a:p>
            <a:pPr algn="l">
              <a:spcAft>
                <a:spcPts val="0"/>
              </a:spcAft>
            </a:pPr>
            <a:r>
              <a:rPr sz="2200" b="1" i="0">
                <a:solidFill>
                  <a:srgbClr val="17233A"/>
                </a:solidFill>
                <a:latin typeface="Cambria"/>
              </a:rPr>
              <a:t>Bộ tiêu chí KPI/OKR</a:t>
            </a:r>
          </a:p>
        </p:txBody>
      </p:sp>
      <p:sp>
        <p:nvSpPr>
          <p:cNvPr id="9" name="Nội dung thẻ"/>
          <p:cNvSpPr txBox="1"/>
          <p:nvPr/>
        </p:nvSpPr>
        <p:spPr>
          <a:xfrm>
            <a:off x="777240" y="2599944"/>
            <a:ext cx="3102800" cy="1222248"/>
          </a:xfrm>
          <a:prstGeom prst="rect">
            <a:avLst/>
          </a:prstGeom>
          <a:noFill/>
        </p:spPr>
        <p:txBody>
          <a:bodyPr wrap="square" anchor="t" lIns="0" rIns="0" tIns="0" bIns="0">
            <a:spAutoFit/>
          </a:bodyPr>
          <a:lstStyle/>
          <a:p>
            <a:pPr algn="l">
              <a:spcAft>
                <a:spcPts val="600"/>
              </a:spcAft>
            </a:pPr>
            <a:r>
              <a:rPr sz="1600" b="0" i="0">
                <a:solidFill>
                  <a:srgbClr val="3B4658"/>
                </a:solidFill>
                <a:latin typeface="Calibri"/>
              </a:rPr>
              <a:t>Điểm của cán bộ, công chức và tập thể các phòng: cấu trúc 30 + 70, công thức, xếp loại, quy trình, đối chiếu OKR.</a:t>
            </a:r>
          </a:p>
        </p:txBody>
      </p:sp>
      <p:sp>
        <p:nvSpPr>
          <p:cNvPr id="10" name="Thẻ"/>
          <p:cNvSpPr/>
          <p:nvPr/>
        </p:nvSpPr>
        <p:spPr>
          <a:xfrm>
            <a:off x="8082640" y="1627632"/>
            <a:ext cx="3560000" cy="23774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1240" y="1856232"/>
            <a:ext cx="3102800"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YÊU CẦU 3</a:t>
            </a:r>
          </a:p>
        </p:txBody>
      </p:sp>
      <p:sp>
        <p:nvSpPr>
          <p:cNvPr id="12" name="TextBox 11"/>
          <p:cNvSpPr txBox="1"/>
          <p:nvPr/>
        </p:nvSpPr>
        <p:spPr>
          <a:xfrm>
            <a:off x="8311240" y="2148840"/>
            <a:ext cx="3102800" cy="359664"/>
          </a:xfrm>
          <a:prstGeom prst="rect">
            <a:avLst/>
          </a:prstGeom>
          <a:noFill/>
        </p:spPr>
        <p:txBody>
          <a:bodyPr wrap="square" anchor="t" lIns="0" rIns="0" tIns="0" bIns="0">
            <a:spAutoFit/>
          </a:bodyPr>
          <a:lstStyle/>
          <a:p>
            <a:pPr algn="l">
              <a:spcAft>
                <a:spcPts val="0"/>
              </a:spcAft>
            </a:pPr>
            <a:r>
              <a:rPr sz="2200" b="1" i="0">
                <a:solidFill>
                  <a:srgbClr val="17233A"/>
                </a:solidFill>
                <a:latin typeface="Cambria"/>
              </a:rPr>
              <a:t>An toàn thông tin cấp 3</a:t>
            </a:r>
          </a:p>
        </p:txBody>
      </p:sp>
      <p:sp>
        <p:nvSpPr>
          <p:cNvPr id="13" name="Nội dung thẻ"/>
          <p:cNvSpPr txBox="1"/>
          <p:nvPr/>
        </p:nvSpPr>
        <p:spPr>
          <a:xfrm>
            <a:off x="8311240" y="2599944"/>
            <a:ext cx="3102800" cy="1222248"/>
          </a:xfrm>
          <a:prstGeom prst="rect">
            <a:avLst/>
          </a:prstGeom>
          <a:noFill/>
        </p:spPr>
        <p:txBody>
          <a:bodyPr wrap="square" anchor="t" lIns="0" rIns="0" tIns="0" bIns="0">
            <a:spAutoFit/>
          </a:bodyPr>
          <a:lstStyle/>
          <a:p>
            <a:pPr algn="l">
              <a:spcAft>
                <a:spcPts val="600"/>
              </a:spcAft>
            </a:pPr>
            <a:r>
              <a:rPr sz="1600" b="0" i="0">
                <a:solidFill>
                  <a:srgbClr val="3B4658"/>
                </a:solidFill>
                <a:latin typeface="Calibri"/>
              </a:rPr>
              <a:t>Xác định cấp độ theo Nghị định 85/2016, rủi ro, phương án bảo đảm, tình trạng và lộ trình.</a:t>
            </a:r>
          </a:p>
        </p:txBody>
      </p:sp>
      <p:sp>
        <p:nvSpPr>
          <p:cNvPr id="14" name="TextBox 13"/>
          <p:cNvSpPr txBox="1"/>
          <p:nvPr/>
        </p:nvSpPr>
        <p:spPr>
          <a:xfrm>
            <a:off x="548640" y="4325112"/>
            <a:ext cx="11094415" cy="365760"/>
          </a:xfrm>
          <a:prstGeom prst="rect">
            <a:avLst/>
          </a:prstGeom>
          <a:noFill/>
        </p:spPr>
        <p:txBody>
          <a:bodyPr wrap="square" anchor="t" lIns="0" rIns="0" tIns="0" bIns="0">
            <a:spAutoFit/>
          </a:bodyPr>
          <a:lstStyle/>
          <a:p>
            <a:pPr algn="l">
              <a:spcAft>
                <a:spcPts val="0"/>
              </a:spcAft>
            </a:pPr>
            <a:r>
              <a:rPr sz="1800" b="1" i="0">
                <a:solidFill>
                  <a:srgbClr val="17233A"/>
                </a:solidFill>
                <a:latin typeface="Calibri"/>
              </a:rPr>
              <a:t>Cách đọc các nhãn trong bài</a:t>
            </a:r>
          </a:p>
        </p:txBody>
      </p:sp>
      <p:sp>
        <p:nvSpPr>
          <p:cNvPr id="15" name="TextBox 14"/>
          <p:cNvSpPr txBox="1"/>
          <p:nvPr/>
        </p:nvSpPr>
        <p:spPr>
          <a:xfrm>
            <a:off x="548640" y="4736592"/>
            <a:ext cx="11094415" cy="822960"/>
          </a:xfrm>
          <a:prstGeom prst="rect">
            <a:avLst/>
          </a:prstGeom>
          <a:noFill/>
        </p:spPr>
        <p:txBody>
          <a:bodyPr wrap="square" anchor="t" lIns="0" rIns="0" tIns="0" bIns="0">
            <a:spAutoFit/>
          </a:bodyPr>
          <a:lstStyle/>
          <a:p>
            <a:pPr algn="l">
              <a:spcAft>
                <a:spcPts val="0"/>
              </a:spcAft>
            </a:pPr>
            <a:r>
              <a:rPr sz="1600" b="1" i="0">
                <a:solidFill>
                  <a:srgbClr val="3B4658"/>
                </a:solidFill>
                <a:latin typeface="Calibri"/>
              </a:rPr>
              <a:t>Căn cứ</a:t>
            </a:r>
            <a:r>
              <a:rPr sz="1600" b="0" i="0">
                <a:solidFill>
                  <a:srgbClr val="3B4658"/>
                </a:solidFill>
                <a:latin typeface="Calibri"/>
              </a:rPr>
              <a:t>: có trong văn bản, kèm số điều. </a:t>
            </a:r>
            <a:r>
              <a:rPr sz="1600" b="1" i="0">
                <a:solidFill>
                  <a:srgbClr val="3B4658"/>
                </a:solidFill>
                <a:latin typeface="Calibri"/>
              </a:rPr>
              <a:t>Đề xuất</a:t>
            </a:r>
            <a:r>
              <a:rPr sz="1600" b="0" i="0">
                <a:solidFill>
                  <a:srgbClr val="3B4658"/>
                </a:solidFill>
                <a:latin typeface="Calibri"/>
              </a:rPr>
              <a:t>: văn bản không quy định, người xây dựng đề xuất. </a:t>
            </a:r>
            <a:r>
              <a:rPr sz="1600" b="1" i="0">
                <a:solidFill>
                  <a:srgbClr val="3B4658"/>
                </a:solidFill>
                <a:latin typeface="Calibri"/>
              </a:rPr>
              <a:t>Đã cài</a:t>
            </a:r>
            <a:r>
              <a:rPr sz="1600" b="0" i="0">
                <a:solidFill>
                  <a:srgbClr val="3B4658"/>
                </a:solidFill>
                <a:latin typeface="Calibri"/>
              </a:rPr>
              <a:t> hoặc </a:t>
            </a:r>
            <a:r>
              <a:rPr sz="1600" b="1" i="0">
                <a:solidFill>
                  <a:srgbClr val="3B4658"/>
                </a:solidFill>
                <a:latin typeface="Calibri"/>
              </a:rPr>
              <a:t>chưa cài</a:t>
            </a:r>
            <a:r>
              <a:rPr sz="1600" b="0" i="0">
                <a:solidFill>
                  <a:srgbClr val="3B4658"/>
                </a:solidFill>
                <a:latin typeface="Calibri"/>
              </a:rPr>
              <a:t>: tình trạng trong phần mềm.</a:t>
            </a:r>
          </a:p>
        </p:txBody>
      </p:sp>
      <p:sp>
        <p:nvSpPr>
          <p:cNvPr id="10" name="Thẻ"/>
          <p:cNvSpPr/>
          <p:nvPr/>
        </p:nvSpPr>
        <p:spPr>
          <a:xfrm>
            <a:off x="4315640" y="1627632"/>
            <a:ext cx="3560000" cy="23774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240" y="1856232"/>
            <a:ext cx="3102800"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YÊU CẦU 2</a:t>
            </a:r>
          </a:p>
        </p:txBody>
      </p:sp>
      <p:sp>
        <p:nvSpPr>
          <p:cNvPr id="12" name="TextBox 11"/>
          <p:cNvSpPr txBox="1"/>
          <p:nvPr/>
        </p:nvSpPr>
        <p:spPr>
          <a:xfrm>
            <a:off x="4544240" y="2148840"/>
            <a:ext cx="3102800" cy="359664"/>
          </a:xfrm>
          <a:prstGeom prst="rect">
            <a:avLst/>
          </a:prstGeom>
          <a:noFill/>
        </p:spPr>
        <p:txBody>
          <a:bodyPr wrap="square" anchor="t" lIns="0" rIns="0" tIns="0" bIns="0">
            <a:spAutoFit/>
          </a:bodyPr>
          <a:lstStyle/>
          <a:p>
            <a:pPr algn="l">
              <a:spcAft>
                <a:spcPts val="0"/>
              </a:spcAft>
            </a:pPr>
            <a:r>
              <a:rPr sz="2200" b="1" i="0">
                <a:solidFill>
                  <a:srgbClr val="17233A"/>
                </a:solidFill>
                <a:latin typeface="Cambria"/>
              </a:rPr>
              <a:t>Phần mềm quản lý</a:t>
            </a:r>
          </a:p>
        </p:txBody>
      </p:sp>
      <p:sp>
        <p:nvSpPr>
          <p:cNvPr id="13" name="Nội dung thẻ"/>
          <p:cNvSpPr txBox="1"/>
          <p:nvPr/>
        </p:nvSpPr>
        <p:spPr>
          <a:xfrm>
            <a:off x="4544240" y="2599944"/>
            <a:ext cx="3102800" cy="1222248"/>
          </a:xfrm>
          <a:prstGeom prst="rect">
            <a:avLst/>
          </a:prstGeom>
          <a:noFill/>
        </p:spPr>
        <p:txBody>
          <a:bodyPr wrap="square" anchor="t" lIns="0" rIns="0" tIns="0" bIns="0">
            <a:spAutoFit/>
          </a:bodyPr>
          <a:lstStyle/>
          <a:p>
            <a:pPr algn="l">
              <a:spcAft>
                <a:spcPts val="600"/>
              </a:spcAft>
            </a:pPr>
            <a:r>
              <a:rPr sz="1600" b="0" i="0">
                <a:solidFill>
                  <a:srgbClr val="3B4658"/>
                </a:solidFill>
                <a:latin typeface="Calibri"/>
              </a:rPr>
              <a:t>Phần mềm giao việc, báo cáo, tự chấm, thẩm định, phê duyệt; tính điểm tự động; 202 tình huống kiểm thử đạt.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274320"/>
          </a:xfrm>
          <a:prstGeom prst="rect">
            <a:avLst/>
          </a:prstGeom>
          <a:noFill/>
        </p:spPr>
        <p:txBody>
          <a:bodyPr wrap="square">
            <a:spAutoFit/>
          </a:bodyPr>
          <a:lstStyle/>
          <a:p>
            <a:pPr>
              <a:spcAft>
                <a:spcPts val="400"/>
              </a:spcAft>
            </a:pPr>
            <a:r>
              <a:rPr sz="1200" b="0">
                <a:solidFill>
                  <a:srgbClr val="A4262C"/>
                </a:solidFill>
                <a:latin typeface="Calibri"/>
              </a:rPr>
              <a:t>YÊU CẦU 2 · PHẦN MỀM MINH HỌA</a:t>
            </a:r>
          </a:p>
        </p:txBody>
      </p:sp>
      <p:sp>
        <p:nvSpPr>
          <p:cNvPr id="3" name="TextBox 2"/>
          <p:cNvSpPr txBox="1"/>
          <p:nvPr/>
        </p:nvSpPr>
        <p:spPr>
          <a:xfrm>
            <a:off x="548640" y="713232"/>
            <a:ext cx="11094415" cy="640080"/>
          </a:xfrm>
          <a:prstGeom prst="rect">
            <a:avLst/>
          </a:prstGeom>
          <a:noFill/>
        </p:spPr>
        <p:txBody>
          <a:bodyPr wrap="square">
            <a:spAutoFit/>
          </a:bodyPr>
          <a:lstStyle/>
          <a:p>
            <a:pPr>
              <a:spcAft>
                <a:spcPts val="400"/>
              </a:spcAft>
            </a:pPr>
            <a:r>
              <a:rPr sz="3200" b="0">
                <a:solidFill>
                  <a:srgbClr val="17233A"/>
                </a:solidFill>
                <a:latin typeface="Cambria"/>
              </a:rPr>
              <a:t>Phần mềm quản lý, đánh giá kết quả thực hiện nhiệm vụ</a:t>
            </a:r>
          </a:p>
        </p:txBody>
      </p:sp>
      <p:sp>
        <p:nvSpPr>
          <p:cNvPr id="4" name="Rectangle 3"/>
          <p:cNvSpPr/>
          <p:nvPr/>
        </p:nvSpPr>
        <p:spPr>
          <a:xfrm>
            <a:off x="548640" y="1627632"/>
            <a:ext cx="3560000" cy="39000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8640" y="1800000"/>
            <a:ext cx="3200000" cy="260000"/>
          </a:xfrm>
          <a:prstGeom prst="rect">
            <a:avLst/>
          </a:prstGeom>
          <a:noFill/>
        </p:spPr>
        <p:txBody>
          <a:bodyPr wrap="square">
            <a:spAutoFit/>
          </a:bodyPr>
          <a:lstStyle/>
          <a:p>
            <a:pPr>
              <a:spcAft>
                <a:spcPts val="400"/>
              </a:spcAft>
            </a:pPr>
            <a:r>
              <a:rPr sz="1100" b="1">
                <a:solidFill>
                  <a:srgbClr val="A4262C"/>
                </a:solidFill>
                <a:latin typeface="Calibri"/>
              </a:rPr>
              <a:t>LUỒNG NGHIỆP VỤ</a:t>
            </a:r>
          </a:p>
        </p:txBody>
      </p:sp>
      <p:sp>
        <p:nvSpPr>
          <p:cNvPr id="6" name="TextBox 5"/>
          <p:cNvSpPr txBox="1"/>
          <p:nvPr/>
        </p:nvSpPr>
        <p:spPr>
          <a:xfrm>
            <a:off x="728640" y="2100000"/>
            <a:ext cx="3200000" cy="800000"/>
          </a:xfrm>
          <a:prstGeom prst="rect">
            <a:avLst/>
          </a:prstGeom>
          <a:noFill/>
        </p:spPr>
        <p:txBody>
          <a:bodyPr wrap="square">
            <a:spAutoFit/>
          </a:bodyPr>
          <a:lstStyle/>
          <a:p>
            <a:pPr>
              <a:spcAft>
                <a:spcPts val="400"/>
              </a:spcAft>
            </a:pPr>
            <a:r>
              <a:rPr sz="2000" b="0">
                <a:solidFill>
                  <a:srgbClr val="17233A"/>
                </a:solidFill>
                <a:latin typeface="Cambria"/>
              </a:rPr>
              <a:t>Từ giao việc đến phê duyệt</a:t>
            </a:r>
          </a:p>
        </p:txBody>
      </p:sp>
      <p:sp>
        <p:nvSpPr>
          <p:cNvPr id="7" name="TextBox 6"/>
          <p:cNvSpPr txBox="1"/>
          <p:nvPr/>
        </p:nvSpPr>
        <p:spPr>
          <a:xfrm>
            <a:off x="728640" y="2950000"/>
            <a:ext cx="3200000" cy="2500000"/>
          </a:xfrm>
          <a:prstGeom prst="rect">
            <a:avLst/>
          </a:prstGeom>
          <a:noFill/>
        </p:spPr>
        <p:txBody>
          <a:bodyPr wrap="square">
            <a:spAutoFit/>
          </a:bodyPr>
          <a:lstStyle/>
          <a:p>
            <a:pPr>
              <a:spcAft>
                <a:spcPts val="400"/>
              </a:spcAft>
            </a:pPr>
            <a:r>
              <a:rPr sz="1500" b="0">
                <a:solidFill>
                  <a:srgbClr val="3B4658"/>
                </a:solidFill>
                <a:latin typeface="Calibri"/>
              </a:rPr>
              <a:t>• Cấp trên giao việc, cấp dưới báo cáo, cấp trên xác nhận.</a:t>
            </a:r>
          </a:p>
          <a:p>
            <a:pPr>
              <a:spcAft>
                <a:spcPts val="400"/>
              </a:spcAft>
            </a:pPr>
            <a:r>
              <a:rPr sz="1500" b="0">
                <a:solidFill>
                  <a:srgbClr val="3B4658"/>
                </a:solidFill>
                <a:latin typeface="Calibri"/>
              </a:rPr>
              <a:t>• Cuối kỳ tổng hợp thành hồ sơ: tự chấm, thẩm định, phê duyệt rồi khóa hồ sơ.</a:t>
            </a:r>
          </a:p>
          <a:p>
            <a:pPr>
              <a:spcAft>
                <a:spcPts val="400"/>
              </a:spcAft>
            </a:pPr>
            <a:r>
              <a:rPr sz="1500" b="0">
                <a:solidFill>
                  <a:srgbClr val="3B4658"/>
                </a:solidFill>
                <a:latin typeface="Calibri"/>
              </a:rPr>
              <a:t>• Điểm và xếp loại tính tự động theo bộ tiêu chí.</a:t>
            </a:r>
          </a:p>
        </p:txBody>
      </p:sp>
      <p:sp>
        <p:nvSpPr>
          <p:cNvPr id="8" name="Rectangle 7"/>
          <p:cNvSpPr/>
          <p:nvPr/>
        </p:nvSpPr>
        <p:spPr>
          <a:xfrm>
            <a:off x="4315640" y="1627632"/>
            <a:ext cx="3560000" cy="39000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5640" y="1800000"/>
            <a:ext cx="3200000" cy="260000"/>
          </a:xfrm>
          <a:prstGeom prst="rect">
            <a:avLst/>
          </a:prstGeom>
          <a:noFill/>
        </p:spPr>
        <p:txBody>
          <a:bodyPr wrap="square">
            <a:spAutoFit/>
          </a:bodyPr>
          <a:lstStyle/>
          <a:p>
            <a:pPr>
              <a:spcAft>
                <a:spcPts val="400"/>
              </a:spcAft>
            </a:pPr>
            <a:r>
              <a:rPr sz="1100" b="1">
                <a:solidFill>
                  <a:srgbClr val="A4262C"/>
                </a:solidFill>
                <a:latin typeface="Calibri"/>
              </a:rPr>
              <a:t>CHỨC NĂNG</a:t>
            </a:r>
          </a:p>
        </p:txBody>
      </p:sp>
      <p:sp>
        <p:nvSpPr>
          <p:cNvPr id="10" name="TextBox 9"/>
          <p:cNvSpPr txBox="1"/>
          <p:nvPr/>
        </p:nvSpPr>
        <p:spPr>
          <a:xfrm>
            <a:off x="4495640" y="2100000"/>
            <a:ext cx="3200000" cy="800000"/>
          </a:xfrm>
          <a:prstGeom prst="rect">
            <a:avLst/>
          </a:prstGeom>
          <a:noFill/>
        </p:spPr>
        <p:txBody>
          <a:bodyPr wrap="square">
            <a:spAutoFit/>
          </a:bodyPr>
          <a:lstStyle/>
          <a:p>
            <a:pPr>
              <a:spcAft>
                <a:spcPts val="400"/>
              </a:spcAft>
            </a:pPr>
            <a:r>
              <a:rPr sz="2000" b="0">
                <a:solidFill>
                  <a:srgbClr val="17233A"/>
                </a:solidFill>
                <a:latin typeface="Cambria"/>
              </a:rPr>
              <a:t>9 chức năng của đề và 12 chức năng bổ sung</a:t>
            </a:r>
          </a:p>
        </p:txBody>
      </p:sp>
      <p:sp>
        <p:nvSpPr>
          <p:cNvPr id="11" name="TextBox 10"/>
          <p:cNvSpPr txBox="1"/>
          <p:nvPr/>
        </p:nvSpPr>
        <p:spPr>
          <a:xfrm>
            <a:off x="4495640" y="2950000"/>
            <a:ext cx="3200000" cy="2500000"/>
          </a:xfrm>
          <a:prstGeom prst="rect">
            <a:avLst/>
          </a:prstGeom>
          <a:noFill/>
        </p:spPr>
        <p:txBody>
          <a:bodyPr wrap="square">
            <a:spAutoFit/>
          </a:bodyPr>
          <a:lstStyle/>
          <a:p>
            <a:pPr>
              <a:spcAft>
                <a:spcPts val="400"/>
              </a:spcAft>
            </a:pPr>
            <a:r>
              <a:rPr sz="1500" b="0">
                <a:solidFill>
                  <a:srgbClr val="3B4658"/>
                </a:solidFill>
                <a:latin typeface="Calibri"/>
              </a:rPr>
              <a:t>• Quản lý cán bộ, phòng, vị trí việc làm; phân quyền theo vai trò và cây tổ chức.</a:t>
            </a:r>
          </a:p>
          <a:p>
            <a:pPr>
              <a:spcAft>
                <a:spcPts val="400"/>
              </a:spcAft>
            </a:pPr>
            <a:r>
              <a:rPr sz="1500" b="0">
                <a:solidFill>
                  <a:srgbClr val="3B4658"/>
                </a:solidFill>
                <a:latin typeface="Calibri"/>
              </a:rPr>
              <a:t>• Tổng quan theo vai trò, báo cáo, xuất Excel, PDF, dự thảo Word.</a:t>
            </a:r>
          </a:p>
          <a:p>
            <a:pPr>
              <a:spcAft>
                <a:spcPts val="400"/>
              </a:spcAft>
            </a:pPr>
            <a:r>
              <a:rPr sz="1500" b="0">
                <a:solidFill>
                  <a:srgbClr val="3B4658"/>
                </a:solidFill>
                <a:latin typeface="Calibri"/>
              </a:rPr>
              <a:t>• Đánh giá tập thể, OKR, giải thích điểm và mô phỏng.</a:t>
            </a:r>
          </a:p>
        </p:txBody>
      </p:sp>
      <p:sp>
        <p:nvSpPr>
          <p:cNvPr id="12" name="Rectangle 11"/>
          <p:cNvSpPr/>
          <p:nvPr/>
        </p:nvSpPr>
        <p:spPr>
          <a:xfrm>
            <a:off x="8082640" y="1627632"/>
            <a:ext cx="3560000" cy="39000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2640" y="1800000"/>
            <a:ext cx="3200000" cy="260000"/>
          </a:xfrm>
          <a:prstGeom prst="rect">
            <a:avLst/>
          </a:prstGeom>
          <a:noFill/>
        </p:spPr>
        <p:txBody>
          <a:bodyPr wrap="square">
            <a:spAutoFit/>
          </a:bodyPr>
          <a:lstStyle/>
          <a:p>
            <a:pPr>
              <a:spcAft>
                <a:spcPts val="400"/>
              </a:spcAft>
            </a:pPr>
            <a:r>
              <a:rPr sz="1100" b="1">
                <a:solidFill>
                  <a:srgbClr val="A4262C"/>
                </a:solidFill>
                <a:latin typeface="Calibri"/>
              </a:rPr>
              <a:t>KIỂM CHỨNG</a:t>
            </a:r>
          </a:p>
        </p:txBody>
      </p:sp>
      <p:sp>
        <p:nvSpPr>
          <p:cNvPr id="14" name="TextBox 13"/>
          <p:cNvSpPr txBox="1"/>
          <p:nvPr/>
        </p:nvSpPr>
        <p:spPr>
          <a:xfrm>
            <a:off x="8262640" y="2100000"/>
            <a:ext cx="3200000" cy="800000"/>
          </a:xfrm>
          <a:prstGeom prst="rect">
            <a:avLst/>
          </a:prstGeom>
          <a:noFill/>
        </p:spPr>
        <p:txBody>
          <a:bodyPr wrap="square">
            <a:spAutoFit/>
          </a:bodyPr>
          <a:lstStyle/>
          <a:p>
            <a:pPr>
              <a:spcAft>
                <a:spcPts val="400"/>
              </a:spcAft>
            </a:pPr>
            <a:r>
              <a:rPr sz="2000" b="0">
                <a:solidFill>
                  <a:srgbClr val="17233A"/>
                </a:solidFill>
                <a:latin typeface="Cambria"/>
              </a:rPr>
              <a:t>Kiểm thử và bằng chứng</a:t>
            </a:r>
          </a:p>
        </p:txBody>
      </p:sp>
      <p:sp>
        <p:nvSpPr>
          <p:cNvPr id="15" name="TextBox 14"/>
          <p:cNvSpPr txBox="1"/>
          <p:nvPr/>
        </p:nvSpPr>
        <p:spPr>
          <a:xfrm>
            <a:off x="8262640" y="2950000"/>
            <a:ext cx="3200000" cy="2500000"/>
          </a:xfrm>
          <a:prstGeom prst="rect">
            <a:avLst/>
          </a:prstGeom>
          <a:noFill/>
        </p:spPr>
        <p:txBody>
          <a:bodyPr wrap="square">
            <a:spAutoFit/>
          </a:bodyPr>
          <a:lstStyle/>
          <a:p>
            <a:pPr>
              <a:spcAft>
                <a:spcPts val="400"/>
              </a:spcAft>
            </a:pPr>
            <a:r>
              <a:rPr sz="1500" b="0">
                <a:solidFill>
                  <a:srgbClr val="3B4658"/>
                </a:solidFill>
                <a:latin typeface="Calibri"/>
              </a:rPr>
              <a:t>• 202 tình huống kiểm thử, đạt 202.</a:t>
            </a:r>
          </a:p>
          <a:p>
            <a:pPr>
              <a:spcAft>
                <a:spcPts val="400"/>
              </a:spcAft>
            </a:pPr>
            <a:r>
              <a:rPr sz="1500" b="0">
                <a:solidFill>
                  <a:srgbClr val="3B4658"/>
                </a:solidFill>
                <a:latin typeface="Calibri"/>
              </a:rPr>
              <a:t>• 12 video luồng nghiệp vụ trên giao diện thật.</a:t>
            </a:r>
          </a:p>
          <a:p>
            <a:pPr>
              <a:spcAft>
                <a:spcPts val="400"/>
              </a:spcAft>
            </a:pPr>
            <a:r>
              <a:rPr sz="1500" b="0">
                <a:solidFill>
                  <a:srgbClr val="3B4658"/>
                </a:solidFill>
                <a:latin typeface="Calibri"/>
              </a:rPr>
              <a:t>• Nhật ký không sửa được; mật khẩu mã hóa; xác thực hai lớp.</a:t>
            </a:r>
          </a:p>
        </p:txBody>
      </p:sp>
      <p:sp>
        <p:nvSpPr>
          <p:cNvPr id="16" name="TextBox 15"/>
          <p:cNvSpPr txBox="1"/>
          <p:nvPr/>
        </p:nvSpPr>
        <p:spPr>
          <a:xfrm>
            <a:off x="548640" y="5750000"/>
            <a:ext cx="11094415" cy="500000"/>
          </a:xfrm>
          <a:prstGeom prst="rect">
            <a:avLst/>
          </a:prstGeom>
          <a:noFill/>
        </p:spPr>
        <p:txBody>
          <a:bodyPr wrap="square">
            <a:spAutoFit/>
          </a:bodyPr>
          <a:lstStyle/>
          <a:p>
            <a:pPr>
              <a:spcAft>
                <a:spcPts val="400"/>
              </a:spcAft>
            </a:pPr>
            <a:r>
              <a:rPr sz="1500" b="0">
                <a:solidFill>
                  <a:srgbClr val="17233A"/>
                </a:solidFill>
                <a:latin typeface="Calibri"/>
              </a:rPr>
              <a:t>Phần chưa xây dựng được ghi trong hồ sơ là đề xuất bổ sung trong tương lai.</a:t>
            </a:r>
          </a:p>
        </p:txBody>
      </p:sp>
      <p:sp>
        <p:nvSpPr>
          <p:cNvPr id="17" name="TextBox 16"/>
          <p:cNvSpPr txBox="1"/>
          <p:nvPr/>
        </p:nvSpPr>
        <p:spPr>
          <a:xfrm>
            <a:off x="548640" y="6382512"/>
            <a:ext cx="10180015" cy="274320"/>
          </a:xfrm>
          <a:prstGeom prst="rect">
            <a:avLst/>
          </a:prstGeom>
          <a:noFill/>
        </p:spPr>
        <p:txBody>
          <a:bodyPr wrap="square">
            <a:spAutoFit/>
          </a:bodyPr>
          <a:lstStyle/>
          <a:p>
            <a:pPr>
              <a:spcAft>
                <a:spcPts val="400"/>
              </a:spcAft>
            </a:pPr>
            <a:r>
              <a:rPr sz="1100" b="0">
                <a:solidFill>
                  <a:srgbClr val="5D687A"/>
                </a:solidFill>
                <a:latin typeface="Calibri"/>
              </a:rPr>
              <a:t>Căn cứ: tài liệu BRD, SRS, bộ kiểm thử và video trong thư mục tai_lieu_nop_bai.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CẤU TRÚC ĐIỂM</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100 điểm gồm 30 điểm chung và 70 điểm kết quả</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6, 7, 12, 20; 39-QĐ/TU Điều 11; 05-HD/TU mục IV</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4</a:t>
            </a:r>
          </a:p>
        </p:txBody>
      </p:sp>
      <p:sp>
        <p:nvSpPr>
          <p:cNvPr id="6" name="Thẻ số"/>
          <p:cNvSpPr/>
          <p:nvPr/>
        </p:nvSpPr>
        <p:spPr>
          <a:xfrm>
            <a:off x="548640" y="1627632"/>
            <a:ext cx="3840480" cy="28803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ố lớn"/>
          <p:cNvSpPr txBox="1"/>
          <p:nvPr/>
        </p:nvSpPr>
        <p:spPr>
          <a:xfrm>
            <a:off x="777240" y="1764792"/>
            <a:ext cx="3383280" cy="868680"/>
          </a:xfrm>
          <a:prstGeom prst="rect">
            <a:avLst/>
          </a:prstGeom>
          <a:noFill/>
        </p:spPr>
        <p:txBody>
          <a:bodyPr wrap="square" anchor="t" lIns="0" rIns="0" tIns="0" bIns="0">
            <a:spAutoFit/>
          </a:bodyPr>
          <a:lstStyle/>
          <a:p>
            <a:pPr algn="l">
              <a:spcAft>
                <a:spcPts val="0"/>
              </a:spcAft>
            </a:pPr>
            <a:r>
              <a:rPr sz="5400" b="1" i="0">
                <a:solidFill>
                  <a:srgbClr val="A4262C"/>
                </a:solidFill>
                <a:latin typeface="Cambria"/>
              </a:rPr>
              <a:t>30</a:t>
            </a:r>
          </a:p>
        </p:txBody>
      </p:sp>
      <p:sp>
        <p:nvSpPr>
          <p:cNvPr id="8" name="TextBox 7"/>
          <p:cNvSpPr txBox="1"/>
          <p:nvPr/>
        </p:nvSpPr>
        <p:spPr>
          <a:xfrm>
            <a:off x="777240" y="2679191"/>
            <a:ext cx="3383280" cy="32004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Tiêu chí chung</a:t>
            </a:r>
          </a:p>
        </p:txBody>
      </p:sp>
      <p:sp>
        <p:nvSpPr>
          <p:cNvPr id="9" name="TextBox 8"/>
          <p:cNvSpPr txBox="1"/>
          <p:nvPr/>
        </p:nvSpPr>
        <p:spPr>
          <a:xfrm>
            <a:off x="777240" y="3044952"/>
            <a:ext cx="3383280" cy="1325880"/>
          </a:xfrm>
          <a:prstGeom prst="rect">
            <a:avLst/>
          </a:prstGeom>
          <a:noFill/>
        </p:spPr>
        <p:txBody>
          <a:bodyPr wrap="square" anchor="t" lIns="0" rIns="0" tIns="0" bIns="0">
            <a:spAutoFit/>
          </a:bodyPr>
          <a:lstStyle/>
          <a:p>
            <a:pPr algn="l">
              <a:spcAft>
                <a:spcPts val="0"/>
              </a:spcAft>
            </a:pPr>
            <a:r>
              <a:rPr sz="1500" b="0" i="0">
                <a:solidFill>
                  <a:srgbClr val="3B4658"/>
                </a:solidFill>
                <a:latin typeface="Calibri"/>
              </a:rPr>
              <a:t>Cá nhân chấm theo 17 mục (lãnh đạo) hoặc 10 mục (công chức). Tập thể: chỉ đạo, quản lý, cải cách.</a:t>
            </a:r>
          </a:p>
        </p:txBody>
      </p:sp>
      <p:sp>
        <p:nvSpPr>
          <p:cNvPr id="10" name="Thẻ số"/>
          <p:cNvSpPr/>
          <p:nvPr/>
        </p:nvSpPr>
        <p:spPr>
          <a:xfrm>
            <a:off x="4663440" y="1627632"/>
            <a:ext cx="6979615" cy="28803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ố lớn"/>
          <p:cNvSpPr txBox="1"/>
          <p:nvPr/>
        </p:nvSpPr>
        <p:spPr>
          <a:xfrm>
            <a:off x="4892040" y="1764792"/>
            <a:ext cx="6522415" cy="868680"/>
          </a:xfrm>
          <a:prstGeom prst="rect">
            <a:avLst/>
          </a:prstGeom>
          <a:noFill/>
        </p:spPr>
        <p:txBody>
          <a:bodyPr wrap="square" anchor="t" lIns="0" rIns="0" tIns="0" bIns="0">
            <a:spAutoFit/>
          </a:bodyPr>
          <a:lstStyle/>
          <a:p>
            <a:pPr algn="l">
              <a:spcAft>
                <a:spcPts val="0"/>
              </a:spcAft>
            </a:pPr>
            <a:r>
              <a:rPr sz="5400" b="1" i="0">
                <a:solidFill>
                  <a:srgbClr val="A4262C"/>
                </a:solidFill>
                <a:latin typeface="Cambria"/>
              </a:rPr>
              <a:t>70</a:t>
            </a:r>
          </a:p>
        </p:txBody>
      </p:sp>
      <p:sp>
        <p:nvSpPr>
          <p:cNvPr id="12" name="TextBox 11"/>
          <p:cNvSpPr txBox="1"/>
          <p:nvPr/>
        </p:nvSpPr>
        <p:spPr>
          <a:xfrm>
            <a:off x="4892040" y="2679191"/>
            <a:ext cx="6522415" cy="32004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Kết quả thực hiện nhiệm vụ</a:t>
            </a:r>
          </a:p>
        </p:txBody>
      </p:sp>
      <p:sp>
        <p:nvSpPr>
          <p:cNvPr id="13" name="TextBox 12"/>
          <p:cNvSpPr txBox="1"/>
          <p:nvPr/>
        </p:nvSpPr>
        <p:spPr>
          <a:xfrm>
            <a:off x="4892040" y="3044952"/>
            <a:ext cx="6522415" cy="1325880"/>
          </a:xfrm>
          <a:prstGeom prst="rect">
            <a:avLst/>
          </a:prstGeom>
          <a:noFill/>
        </p:spPr>
        <p:txBody>
          <a:bodyPr wrap="square" anchor="t" lIns="0" rIns="0" tIns="0" bIns="0">
            <a:spAutoFit/>
          </a:bodyPr>
          <a:lstStyle/>
          <a:p>
            <a:pPr algn="l">
              <a:spcAft>
                <a:spcPts val="0"/>
              </a:spcAft>
            </a:pPr>
            <a:r>
              <a:rPr sz="1500" b="0" i="0">
                <a:solidFill>
                  <a:srgbClr val="3B4658"/>
                </a:solidFill>
                <a:latin typeface="Calibri"/>
              </a:rPr>
              <a:t>Cá nhân: đo bằng số lượng, chất lượng, tiến độ của công việc được giao. Tập thể: sáu trục kết quả theo Điều 7 Nghị định 335.</a:t>
            </a:r>
          </a:p>
        </p:txBody>
      </p:sp>
      <p:sp>
        <p:nvSpPr>
          <p:cNvPr id="14" name="Rounded Rectangle 13"/>
          <p:cNvSpPr/>
          <p:nvPr/>
        </p:nvSpPr>
        <p:spPr>
          <a:xfrm>
            <a:off x="548640" y="4736592"/>
            <a:ext cx="2670733" cy="868680"/>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09744"/>
            <a:ext cx="2304973" cy="365760"/>
          </a:xfrm>
          <a:prstGeom prst="rect">
            <a:avLst/>
          </a:prstGeom>
          <a:noFill/>
        </p:spPr>
        <p:txBody>
          <a:bodyPr wrap="square" anchor="t" lIns="0" rIns="0" tIns="0" bIns="0">
            <a:spAutoFit/>
          </a:bodyPr>
          <a:lstStyle/>
          <a:p>
            <a:pPr algn="l">
              <a:spcAft>
                <a:spcPts val="0"/>
              </a:spcAft>
            </a:pPr>
            <a:r>
              <a:rPr sz="1700" b="1" i="0">
                <a:solidFill>
                  <a:srgbClr val="F6F4EE"/>
                </a:solidFill>
                <a:latin typeface="Calibri"/>
              </a:rPr>
              <a:t>Từ 90</a:t>
            </a:r>
          </a:p>
        </p:txBody>
      </p:sp>
      <p:sp>
        <p:nvSpPr>
          <p:cNvPr id="16" name="TextBox 15"/>
          <p:cNvSpPr txBox="1"/>
          <p:nvPr/>
        </p:nvSpPr>
        <p:spPr>
          <a:xfrm>
            <a:off x="731520" y="5193792"/>
            <a:ext cx="2304973" cy="320040"/>
          </a:xfrm>
          <a:prstGeom prst="rect">
            <a:avLst/>
          </a:prstGeom>
          <a:noFill/>
        </p:spPr>
        <p:txBody>
          <a:bodyPr wrap="square" anchor="t" lIns="0" rIns="0" tIns="0" bIns="0">
            <a:spAutoFit/>
          </a:bodyPr>
          <a:lstStyle/>
          <a:p>
            <a:pPr algn="l">
              <a:spcAft>
                <a:spcPts val="0"/>
              </a:spcAft>
            </a:pPr>
            <a:r>
              <a:rPr sz="1800" b="0" i="0">
                <a:solidFill>
                  <a:srgbClr val="F6F4EE"/>
                </a:solidFill>
                <a:latin typeface="Calibri"/>
              </a:rPr>
              <a:t>Xuất sắc</a:t>
            </a:r>
          </a:p>
        </p:txBody>
      </p:sp>
      <p:sp>
        <p:nvSpPr>
          <p:cNvPr id="17" name="Rounded Rectangle 16"/>
          <p:cNvSpPr/>
          <p:nvPr/>
        </p:nvSpPr>
        <p:spPr>
          <a:xfrm>
            <a:off x="3356533" y="4736592"/>
            <a:ext cx="2670733" cy="868680"/>
          </a:xfrm>
          <a:prstGeom prst="roundRect">
            <a:avLst>
              <a:gd name="adj" fmla="val 6000"/>
            </a:avLst>
          </a:prstGeom>
          <a:solidFill>
            <a:srgbClr val="2D4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9413" y="4809744"/>
            <a:ext cx="2304973" cy="365760"/>
          </a:xfrm>
          <a:prstGeom prst="rect">
            <a:avLst/>
          </a:prstGeom>
          <a:noFill/>
        </p:spPr>
        <p:txBody>
          <a:bodyPr wrap="square" anchor="t" lIns="0" rIns="0" tIns="0" bIns="0">
            <a:spAutoFit/>
          </a:bodyPr>
          <a:lstStyle/>
          <a:p>
            <a:pPr algn="l">
              <a:spcAft>
                <a:spcPts val="0"/>
              </a:spcAft>
            </a:pPr>
            <a:r>
              <a:rPr sz="1700" b="1" i="0">
                <a:solidFill>
                  <a:srgbClr val="FFFFFF"/>
                </a:solidFill>
                <a:latin typeface="Calibri"/>
              </a:rPr>
              <a:t>70 đến dưới 90</a:t>
            </a:r>
          </a:p>
        </p:txBody>
      </p:sp>
      <p:sp>
        <p:nvSpPr>
          <p:cNvPr id="19" name="TextBox 18"/>
          <p:cNvSpPr txBox="1"/>
          <p:nvPr/>
        </p:nvSpPr>
        <p:spPr>
          <a:xfrm>
            <a:off x="3539413" y="5193792"/>
            <a:ext cx="2304973" cy="320040"/>
          </a:xfrm>
          <a:prstGeom prst="rect">
            <a:avLst/>
          </a:prstGeom>
          <a:noFill/>
        </p:spPr>
        <p:txBody>
          <a:bodyPr wrap="square" anchor="t" lIns="0" rIns="0" tIns="0" bIns="0">
            <a:spAutoFit/>
          </a:bodyPr>
          <a:lstStyle/>
          <a:p>
            <a:pPr algn="l">
              <a:spcAft>
                <a:spcPts val="0"/>
              </a:spcAft>
            </a:pPr>
            <a:r>
              <a:rPr sz="1800" b="0" i="0">
                <a:solidFill>
                  <a:srgbClr val="FFFFFF"/>
                </a:solidFill>
                <a:latin typeface="Calibri"/>
              </a:rPr>
              <a:t>Hoàn thành tốt</a:t>
            </a:r>
          </a:p>
        </p:txBody>
      </p:sp>
      <p:sp>
        <p:nvSpPr>
          <p:cNvPr id="20" name="Rounded Rectangle 19"/>
          <p:cNvSpPr/>
          <p:nvPr/>
        </p:nvSpPr>
        <p:spPr>
          <a:xfrm>
            <a:off x="6164427" y="4736592"/>
            <a:ext cx="2670733" cy="868680"/>
          </a:xfrm>
          <a:prstGeom prst="roundRect">
            <a:avLst>
              <a:gd name="adj" fmla="val 6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7307" y="4809744"/>
            <a:ext cx="2304973" cy="365760"/>
          </a:xfrm>
          <a:prstGeom prst="rect">
            <a:avLst/>
          </a:prstGeom>
          <a:noFill/>
        </p:spPr>
        <p:txBody>
          <a:bodyPr wrap="square" anchor="t" lIns="0" rIns="0" tIns="0" bIns="0">
            <a:spAutoFit/>
          </a:bodyPr>
          <a:lstStyle/>
          <a:p>
            <a:pPr algn="l">
              <a:spcAft>
                <a:spcPts val="0"/>
              </a:spcAft>
            </a:pPr>
            <a:r>
              <a:rPr sz="1700" b="1" i="0">
                <a:solidFill>
                  <a:srgbClr val="17233A"/>
                </a:solidFill>
                <a:latin typeface="Calibri"/>
              </a:rPr>
              <a:t>50 đến dưới 70</a:t>
            </a:r>
          </a:p>
        </p:txBody>
      </p:sp>
      <p:sp>
        <p:nvSpPr>
          <p:cNvPr id="22" name="TextBox 21"/>
          <p:cNvSpPr txBox="1"/>
          <p:nvPr/>
        </p:nvSpPr>
        <p:spPr>
          <a:xfrm>
            <a:off x="6347307" y="5193792"/>
            <a:ext cx="2304973" cy="320040"/>
          </a:xfrm>
          <a:prstGeom prst="rect">
            <a:avLst/>
          </a:prstGeom>
          <a:noFill/>
        </p:spPr>
        <p:txBody>
          <a:bodyPr wrap="square" anchor="t" lIns="0" rIns="0" tIns="0" bIns="0">
            <a:spAutoFit/>
          </a:bodyPr>
          <a:lstStyle/>
          <a:p>
            <a:pPr algn="l">
              <a:spcAft>
                <a:spcPts val="0"/>
              </a:spcAft>
            </a:pPr>
            <a:r>
              <a:rPr sz="1800" b="0" i="0">
                <a:solidFill>
                  <a:srgbClr val="17233A"/>
                </a:solidFill>
                <a:latin typeface="Calibri"/>
              </a:rPr>
              <a:t>Hoàn thành</a:t>
            </a:r>
          </a:p>
        </p:txBody>
      </p:sp>
      <p:sp>
        <p:nvSpPr>
          <p:cNvPr id="23" name="Rounded Rectangle 22"/>
          <p:cNvSpPr/>
          <p:nvPr/>
        </p:nvSpPr>
        <p:spPr>
          <a:xfrm>
            <a:off x="8972321" y="4736592"/>
            <a:ext cx="2670733" cy="868680"/>
          </a:xfrm>
          <a:prstGeom prst="roundRect">
            <a:avLst>
              <a:gd name="adj" fmla="val 6000"/>
            </a:avLst>
          </a:prstGeom>
          <a:solidFill>
            <a:srgbClr val="F1D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201" y="4809744"/>
            <a:ext cx="2304973" cy="365760"/>
          </a:xfrm>
          <a:prstGeom prst="rect">
            <a:avLst/>
          </a:prstGeom>
          <a:noFill/>
        </p:spPr>
        <p:txBody>
          <a:bodyPr wrap="square" anchor="t" lIns="0" rIns="0" tIns="0" bIns="0">
            <a:spAutoFit/>
          </a:bodyPr>
          <a:lstStyle/>
          <a:p>
            <a:pPr algn="l">
              <a:spcAft>
                <a:spcPts val="0"/>
              </a:spcAft>
            </a:pPr>
            <a:r>
              <a:rPr sz="1700" b="1" i="0">
                <a:solidFill>
                  <a:srgbClr val="5A1E22"/>
                </a:solidFill>
                <a:latin typeface="Calibri"/>
              </a:rPr>
              <a:t>Dưới 50</a:t>
            </a:r>
          </a:p>
        </p:txBody>
      </p:sp>
      <p:sp>
        <p:nvSpPr>
          <p:cNvPr id="25" name="TextBox 24"/>
          <p:cNvSpPr txBox="1"/>
          <p:nvPr/>
        </p:nvSpPr>
        <p:spPr>
          <a:xfrm>
            <a:off x="9155201" y="5193792"/>
            <a:ext cx="2304973" cy="320040"/>
          </a:xfrm>
          <a:prstGeom prst="rect">
            <a:avLst/>
          </a:prstGeom>
          <a:noFill/>
        </p:spPr>
        <p:txBody>
          <a:bodyPr wrap="square" anchor="t" lIns="0" rIns="0" tIns="0" bIns="0">
            <a:spAutoFit/>
          </a:bodyPr>
          <a:lstStyle/>
          <a:p>
            <a:pPr algn="l">
              <a:spcAft>
                <a:spcPts val="0"/>
              </a:spcAft>
            </a:pPr>
            <a:r>
              <a:rPr sz="1800" b="0" i="0">
                <a:solidFill>
                  <a:srgbClr val="5A1E22"/>
                </a:solidFill>
                <a:latin typeface="Calibri"/>
              </a:rPr>
              <a:t>Không hoàn thành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CÁN BỘ, CÔNG CHỨC</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70 điểm kết quả đo bằng ba chỉ tiêu</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13, 14 · Danh mục công việc của BTCTU (27/9/2026)</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5</a:t>
            </a:r>
          </a:p>
        </p:txBody>
      </p:sp>
      <p:sp>
        <p:nvSpPr>
          <p:cNvPr id="6" name="Thẻ"/>
          <p:cNvSpPr/>
          <p:nvPr/>
        </p:nvSpPr>
        <p:spPr>
          <a:xfrm>
            <a:off x="548640" y="1627632"/>
            <a:ext cx="4023360" cy="36576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3566160"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Đơn vị đo thống nhất</a:t>
            </a:r>
          </a:p>
        </p:txBody>
      </p:sp>
      <p:sp>
        <p:nvSpPr>
          <p:cNvPr id="8" name="Nội dung thẻ"/>
          <p:cNvSpPr txBox="1"/>
          <p:nvPr/>
        </p:nvSpPr>
        <p:spPr>
          <a:xfrm>
            <a:off x="777240" y="2277364"/>
            <a:ext cx="3566160" cy="2824988"/>
          </a:xfrm>
          <a:prstGeom prst="rect">
            <a:avLst/>
          </a:prstGeom>
          <a:noFill/>
        </p:spPr>
        <p:txBody>
          <a:bodyPr wrap="square" anchor="t" lIns="0" rIns="0" tIns="0" bIns="0">
            <a:spAutoFit/>
          </a:bodyPr>
          <a:lstStyle/>
          <a:p>
            <a:pPr algn="l">
              <a:spcAft>
                <a:spcPts val="800"/>
              </a:spcAft>
            </a:pPr>
            <a:r>
              <a:rPr sz="1800" b="0" i="0">
                <a:solidFill>
                  <a:srgbClr val="3B4658"/>
                </a:solidFill>
                <a:latin typeface="Calibri"/>
              </a:rPr>
              <a:t>Danh mục công việc của Ban: </a:t>
            </a:r>
            <a:r>
              <a:rPr sz="1800" b="1" i="0">
                <a:solidFill>
                  <a:srgbClr val="3B4658"/>
                </a:solidFill>
                <a:latin typeface="Calibri"/>
              </a:rPr>
              <a:t>49 công việc</a:t>
            </a:r>
            <a:r>
              <a:rPr sz="1800" b="0" i="0">
                <a:solidFill>
                  <a:srgbClr val="3B4658"/>
                </a:solidFill>
                <a:latin typeface="Calibri"/>
              </a:rPr>
              <a:t>, 4 nhóm A, B, C, D.</a:t>
            </a:r>
          </a:p>
          <a:p>
            <a:pPr algn="l">
              <a:spcAft>
                <a:spcPts val="800"/>
              </a:spcAft>
            </a:pPr>
            <a:r>
              <a:rPr sz="1800" b="0" i="0">
                <a:solidFill>
                  <a:srgbClr val="3B4658"/>
                </a:solidFill>
                <a:latin typeface="Calibri"/>
              </a:rPr>
              <a:t>Hệ số quy đổi = điểm chấm / 90. Công việc chuẩn B.009 có hệ số 1; C.007 có hệ số 1,2222.</a:t>
            </a:r>
          </a:p>
          <a:p>
            <a:pPr algn="l">
              <a:spcAft>
                <a:spcPts val="800"/>
              </a:spcAft>
            </a:pPr>
            <a:r>
              <a:rPr sz="1800" b="0" i="0">
                <a:solidFill>
                  <a:srgbClr val="3B4658"/>
                </a:solidFill>
                <a:latin typeface="Calibri"/>
              </a:rPr>
              <a:t>Mọi kết quả quy về đơn vị chuẩn trước khi so với số giao.</a:t>
            </a:r>
          </a:p>
        </p:txBody>
      </p:sp>
      <p:graphicFrame>
        <p:nvGraphicFramePr>
          <p:cNvPr id="9" name="Bảng"/>
          <p:cNvGraphicFramePr>
            <a:graphicFrameLocks noGrp="1"/>
          </p:cNvGraphicFramePr>
          <p:nvPr/>
        </p:nvGraphicFramePr>
        <p:xfrm>
          <a:off x="4846320" y="1627632"/>
          <a:ext cx="6796734" cy="2368549"/>
        </p:xfrm>
        <a:graphic>
          <a:graphicData uri="http://schemas.openxmlformats.org/drawingml/2006/table">
            <a:tbl>
              <a:tblPr firstRow="1" bandRow="1">
                <a:tableStyleId>{5C22544A-7EE6-4342-B048-85BDC9FD1C3A}</a:tableStyleId>
              </a:tblPr>
              <a:tblGrid>
                <a:gridCol w="1657740"/>
                <a:gridCol w="2486610"/>
                <a:gridCol w="2652384"/>
              </a:tblGrid>
              <a:tr h="401065">
                <a:tc>
                  <a:txBody>
                    <a:bodyPr wrap="square"/>
                    <a:lstStyle/>
                    <a:p>
                      <a:r>
                        <a:rPr sz="1700" b="1" i="0">
                          <a:solidFill>
                            <a:srgbClr val="FFFFFF"/>
                          </a:solidFill>
                          <a:latin typeface="Calibri"/>
                        </a:rPr>
                        <a:t>Chỉ tiêu</a:t>
                      </a:r>
                    </a:p>
                  </a:txBody>
                  <a:tcPr marL="91440" marR="91440" marT="45720" marB="45720" anchor="ctr">
                    <a:solidFill>
                      <a:srgbClr val="17233A"/>
                    </a:solidFill>
                  </a:tcPr>
                </a:tc>
                <a:tc>
                  <a:txBody>
                    <a:bodyPr wrap="square"/>
                    <a:lstStyle/>
                    <a:p>
                      <a:r>
                        <a:rPr sz="1700" b="1" i="0">
                          <a:solidFill>
                            <a:srgbClr val="FFFFFF"/>
                          </a:solidFill>
                          <a:latin typeface="Calibri"/>
                        </a:rPr>
                        <a:t>Ý nghĩa</a:t>
                      </a:r>
                    </a:p>
                  </a:txBody>
                  <a:tcPr marL="91440" marR="91440" marT="45720" marB="45720" anchor="ctr">
                    <a:solidFill>
                      <a:srgbClr val="17233A"/>
                    </a:solidFill>
                  </a:tcPr>
                </a:tc>
                <a:tc>
                  <a:txBody>
                    <a:bodyPr wrap="square"/>
                    <a:lstStyle/>
                    <a:p>
                      <a:r>
                        <a:rPr sz="1700" b="1" i="0">
                          <a:solidFill>
                            <a:srgbClr val="FFFFFF"/>
                          </a:solidFill>
                          <a:latin typeface="Calibri"/>
                        </a:rPr>
                        <a:t>Công thức</a:t>
                      </a:r>
                    </a:p>
                  </a:txBody>
                  <a:tcPr marL="91440" marR="91440" marT="45720" marB="45720" anchor="ctr">
                    <a:solidFill>
                      <a:srgbClr val="17233A"/>
                    </a:solidFill>
                  </a:tcPr>
                </a:tc>
              </a:tr>
              <a:tr h="655828">
                <a:tc>
                  <a:txBody>
                    <a:bodyPr wrap="square"/>
                    <a:lstStyle/>
                    <a:p>
                      <a:r>
                        <a:rPr sz="1700" b="0" i="0">
                          <a:solidFill>
                            <a:srgbClr val="17233A"/>
                          </a:solidFill>
                          <a:latin typeface="Calibri"/>
                        </a:rPr>
                        <a:t>a, số lượng</a:t>
                      </a:r>
                    </a:p>
                  </a:txBody>
                  <a:tcPr marL="91440" marR="91440" marT="45720" marB="45720" anchor="ctr">
                    <a:solidFill>
                      <a:srgbClr val="FFFFFF"/>
                    </a:solidFill>
                  </a:tcPr>
                </a:tc>
                <a:tc>
                  <a:txBody>
                    <a:bodyPr wrap="square"/>
                    <a:lstStyle/>
                    <a:p>
                      <a:r>
                        <a:rPr sz="1700" b="0" i="0">
                          <a:solidFill>
                            <a:srgbClr val="17233A"/>
                          </a:solidFill>
                          <a:latin typeface="Calibri"/>
                        </a:rPr>
                        <a:t>Tỷ lệ hoàn thành so với giao</a:t>
                      </a:r>
                    </a:p>
                  </a:txBody>
                  <a:tcPr marL="91440" marR="91440" marT="45720" marB="45720" anchor="ctr">
                    <a:solidFill>
                      <a:srgbClr val="FFFFFF"/>
                    </a:solidFill>
                  </a:tcPr>
                </a:tc>
                <a:tc>
                  <a:txBody>
                    <a:bodyPr wrap="square"/>
                    <a:lstStyle/>
                    <a:p>
                      <a:r>
                        <a:rPr sz="1700" b="0" i="0">
                          <a:solidFill>
                            <a:srgbClr val="17233A"/>
                          </a:solidFill>
                          <a:latin typeface="Calibri"/>
                        </a:rPr>
                        <a:t>Σ c·Q / Σ c·P</a:t>
                      </a:r>
                    </a:p>
                  </a:txBody>
                  <a:tcPr marL="91440" marR="91440" marT="45720" marB="45720" anchor="ctr">
                    <a:solidFill>
                      <a:srgbClr val="FFFFFF"/>
                    </a:solidFill>
                  </a:tcPr>
                </a:tc>
              </a:tr>
              <a:tr h="655828">
                <a:tc>
                  <a:txBody>
                    <a:bodyPr wrap="square"/>
                    <a:lstStyle/>
                    <a:p>
                      <a:r>
                        <a:rPr sz="1700" b="0" i="0">
                          <a:solidFill>
                            <a:srgbClr val="17233A"/>
                          </a:solidFill>
                          <a:latin typeface="Calibri"/>
                        </a:rPr>
                        <a:t>b, chất lượng</a:t>
                      </a:r>
                    </a:p>
                  </a:txBody>
                  <a:tcPr marL="91440" marR="91440" marT="45720" marB="45720" anchor="ctr">
                    <a:solidFill>
                      <a:srgbClr val="F3F5F8"/>
                    </a:solidFill>
                  </a:tcPr>
                </a:tc>
                <a:tc>
                  <a:txBody>
                    <a:bodyPr wrap="square"/>
                    <a:lstStyle/>
                    <a:p>
                      <a:r>
                        <a:rPr sz="1700" b="0" i="0">
                          <a:solidFill>
                            <a:srgbClr val="17233A"/>
                          </a:solidFill>
                          <a:latin typeface="Calibri"/>
                        </a:rPr>
                        <a:t>Mỗi lần sai sót lớn trừ 25%</a:t>
                      </a:r>
                    </a:p>
                  </a:txBody>
                  <a:tcPr marL="91440" marR="91440" marT="45720" marB="45720" anchor="ctr">
                    <a:solidFill>
                      <a:srgbClr val="F3F5F8"/>
                    </a:solidFill>
                  </a:tcPr>
                </a:tc>
                <a:tc>
                  <a:txBody>
                    <a:bodyPr wrap="square"/>
                    <a:lstStyle/>
                    <a:p>
                      <a:r>
                        <a:rPr sz="1700" b="0" i="0">
                          <a:solidFill>
                            <a:srgbClr val="17233A"/>
                          </a:solidFill>
                          <a:latin typeface="Calibri"/>
                        </a:rPr>
                        <a:t>Σ c·Q·(1 − 0,25·R) / Σ c·P</a:t>
                      </a:r>
                    </a:p>
                  </a:txBody>
                  <a:tcPr marL="91440" marR="91440" marT="45720" marB="45720" anchor="ctr">
                    <a:solidFill>
                      <a:srgbClr val="F3F5F8"/>
                    </a:solidFill>
                  </a:tcPr>
                </a:tc>
              </a:tr>
              <a:tr h="655828">
                <a:tc>
                  <a:txBody>
                    <a:bodyPr wrap="square"/>
                    <a:lstStyle/>
                    <a:p>
                      <a:r>
                        <a:rPr sz="1700" b="0" i="0">
                          <a:solidFill>
                            <a:srgbClr val="17233A"/>
                          </a:solidFill>
                          <a:latin typeface="Calibri"/>
                        </a:rPr>
                        <a:t>c, tiến độ</a:t>
                      </a:r>
                    </a:p>
                  </a:txBody>
                  <a:tcPr marL="91440" marR="91440" marT="45720" marB="45720" anchor="ctr">
                    <a:solidFill>
                      <a:srgbClr val="FFFFFF"/>
                    </a:solidFill>
                  </a:tcPr>
                </a:tc>
                <a:tc>
                  <a:txBody>
                    <a:bodyPr wrap="square"/>
                    <a:lstStyle/>
                    <a:p>
                      <a:r>
                        <a:rPr sz="1700" b="0" i="0">
                          <a:solidFill>
                            <a:srgbClr val="17233A"/>
                          </a:solidFill>
                          <a:latin typeface="Calibri"/>
                        </a:rPr>
                        <a:t>Mỗi lần chậm trừ 25%</a:t>
                      </a:r>
                    </a:p>
                  </a:txBody>
                  <a:tcPr marL="91440" marR="91440" marT="45720" marB="45720" anchor="ctr">
                    <a:solidFill>
                      <a:srgbClr val="FFFFFF"/>
                    </a:solidFill>
                  </a:tcPr>
                </a:tc>
                <a:tc>
                  <a:txBody>
                    <a:bodyPr wrap="square"/>
                    <a:lstStyle/>
                    <a:p>
                      <a:r>
                        <a:rPr sz="1700" b="0" i="0">
                          <a:solidFill>
                            <a:srgbClr val="17233A"/>
                          </a:solidFill>
                          <a:latin typeface="Calibri"/>
                        </a:rPr>
                        <a:t>Σ c·Q·(1 − 0,25·L) / Σ c·P</a:t>
                      </a:r>
                    </a:p>
                  </a:txBody>
                  <a:tcPr marL="91440" marR="91440" marT="45720" marB="45720" anchor="ctr">
                    <a:solidFill>
                      <a:srgbClr val="FFFFFF"/>
                    </a:solidFill>
                  </a:tcPr>
                </a:tc>
              </a:tr>
            </a:tbl>
          </a:graphicData>
        </a:graphic>
      </p:graphicFrame>
      <p:sp>
        <p:nvSpPr>
          <p:cNvPr id="10" name="TextBox 9"/>
          <p:cNvSpPr txBox="1"/>
          <p:nvPr/>
        </p:nvSpPr>
        <p:spPr>
          <a:xfrm>
            <a:off x="4846320" y="4179062"/>
            <a:ext cx="6796735" cy="822960"/>
          </a:xfrm>
          <a:prstGeom prst="rect">
            <a:avLst/>
          </a:prstGeom>
          <a:noFill/>
        </p:spPr>
        <p:txBody>
          <a:bodyPr wrap="square" anchor="t" lIns="0" rIns="0" tIns="0" bIns="0">
            <a:spAutoFit/>
          </a:bodyPr>
          <a:lstStyle/>
          <a:p>
            <a:pPr algn="l">
              <a:spcAft>
                <a:spcPts val="0"/>
              </a:spcAft>
            </a:pPr>
            <a:r>
              <a:rPr sz="1400" b="0" i="0">
                <a:solidFill>
                  <a:srgbClr val="5D687A"/>
                </a:solidFill>
                <a:latin typeface="Calibri"/>
              </a:rPr>
              <a:t>c là hệ số, P số lượng giao, Q số lượng đạt, R số lần chưa đạt do sai sót lớn, L số lần chậm.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CÔNG THỨC ĐIỂM</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Điểm kết quả bằng KPI nhân 70</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15, 16, 17.1 · Phần mềm: chính sách v3-nd335 (đã cài)</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6</a:t>
            </a:r>
          </a:p>
        </p:txBody>
      </p:sp>
      <p:sp>
        <p:nvSpPr>
          <p:cNvPr id="6" name="Thẻ"/>
          <p:cNvSpPr/>
          <p:nvPr/>
        </p:nvSpPr>
        <p:spPr>
          <a:xfrm>
            <a:off x="548640" y="1627632"/>
            <a:ext cx="5364327" cy="1554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4907127"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KHÔNG GIỮ CHỨC VỤ LÃNH ĐẠO</a:t>
            </a:r>
          </a:p>
        </p:txBody>
      </p:sp>
      <p:sp>
        <p:nvSpPr>
          <p:cNvPr id="8" name="TextBox 7"/>
          <p:cNvSpPr txBox="1"/>
          <p:nvPr/>
        </p:nvSpPr>
        <p:spPr>
          <a:xfrm>
            <a:off x="777240" y="2148840"/>
            <a:ext cx="4907127" cy="419608"/>
          </a:xfrm>
          <a:prstGeom prst="rect">
            <a:avLst/>
          </a:prstGeom>
          <a:noFill/>
        </p:spPr>
        <p:txBody>
          <a:bodyPr wrap="square" anchor="t" lIns="0" rIns="0" tIns="0" bIns="0">
            <a:spAutoFit/>
          </a:bodyPr>
          <a:lstStyle/>
          <a:p>
            <a:pPr algn="l">
              <a:spcAft>
                <a:spcPts val="0"/>
              </a:spcAft>
            </a:pPr>
            <a:r>
              <a:rPr sz="2800" b="1" i="0">
                <a:solidFill>
                  <a:srgbClr val="17233A"/>
                </a:solidFill>
                <a:latin typeface="Cambria"/>
              </a:rPr>
              <a:t>KPI = (a + b + c) / 3</a:t>
            </a:r>
          </a:p>
        </p:txBody>
      </p:sp>
      <p:sp>
        <p:nvSpPr>
          <p:cNvPr id="9" name="Thẻ"/>
          <p:cNvSpPr/>
          <p:nvPr/>
        </p:nvSpPr>
        <p:spPr>
          <a:xfrm>
            <a:off x="6278727" y="1627632"/>
            <a:ext cx="5364327" cy="1554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1856232"/>
            <a:ext cx="4907127"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LÃNH ĐẠO, QUẢN LÝ</a:t>
            </a:r>
          </a:p>
        </p:txBody>
      </p:sp>
      <p:sp>
        <p:nvSpPr>
          <p:cNvPr id="11" name="TextBox 10"/>
          <p:cNvSpPr txBox="1"/>
          <p:nvPr/>
        </p:nvSpPr>
        <p:spPr>
          <a:xfrm>
            <a:off x="6507327" y="2148840"/>
            <a:ext cx="4907127" cy="839216"/>
          </a:xfrm>
          <a:prstGeom prst="rect">
            <a:avLst/>
          </a:prstGeom>
          <a:noFill/>
        </p:spPr>
        <p:txBody>
          <a:bodyPr wrap="square" anchor="t" lIns="0" rIns="0" tIns="0" bIns="0">
            <a:spAutoFit/>
          </a:bodyPr>
          <a:lstStyle/>
          <a:p>
            <a:pPr algn="l">
              <a:spcAft>
                <a:spcPts val="0"/>
              </a:spcAft>
            </a:pPr>
            <a:r>
              <a:rPr sz="2800" b="1" i="0">
                <a:solidFill>
                  <a:srgbClr val="17233A"/>
                </a:solidFill>
                <a:latin typeface="Cambria"/>
              </a:rPr>
              <a:t>KPI = (a + b + c + d + đ + e) / 6</a:t>
            </a:r>
          </a:p>
        </p:txBody>
      </p:sp>
      <p:graphicFrame>
        <p:nvGraphicFramePr>
          <p:cNvPr id="12" name="Bảng"/>
          <p:cNvGraphicFramePr>
            <a:graphicFrameLocks noGrp="1"/>
          </p:cNvGraphicFramePr>
          <p:nvPr/>
        </p:nvGraphicFramePr>
        <p:xfrm>
          <a:off x="548640" y="3456432"/>
          <a:ext cx="11094413" cy="2368549"/>
        </p:xfrm>
        <a:graphic>
          <a:graphicData uri="http://schemas.openxmlformats.org/drawingml/2006/table">
            <a:tbl>
              <a:tblPr firstRow="1" bandRow="1">
                <a:tableStyleId>{5C22544A-7EE6-4342-B048-85BDC9FD1C3A}</a:tableStyleId>
              </a:tblPr>
              <a:tblGrid>
                <a:gridCol w="1100272"/>
                <a:gridCol w="3300817"/>
                <a:gridCol w="3667575"/>
                <a:gridCol w="3025749"/>
              </a:tblGrid>
              <a:tr h="401065">
                <a:tc>
                  <a:txBody>
                    <a:bodyPr wrap="square"/>
                    <a:lstStyle/>
                    <a:p>
                      <a:r>
                        <a:rPr sz="1700" b="1" i="0">
                          <a:solidFill>
                            <a:srgbClr val="FFFFFF"/>
                          </a:solidFill>
                          <a:latin typeface="Calibri"/>
                        </a:rPr>
                        <a:t>Ký hiệu</a:t>
                      </a:r>
                    </a:p>
                  </a:txBody>
                  <a:tcPr marL="91440" marR="91440" marT="45720" marB="45720" anchor="ctr">
                    <a:solidFill>
                      <a:srgbClr val="17233A"/>
                    </a:solidFill>
                  </a:tcPr>
                </a:tc>
                <a:tc>
                  <a:txBody>
                    <a:bodyPr wrap="square"/>
                    <a:lstStyle/>
                    <a:p>
                      <a:r>
                        <a:rPr sz="1700" b="1" i="0">
                          <a:solidFill>
                            <a:srgbClr val="FFFFFF"/>
                          </a:solidFill>
                          <a:latin typeface="Calibri"/>
                        </a:rPr>
                        <a:t>Tiêu chí</a:t>
                      </a:r>
                    </a:p>
                  </a:txBody>
                  <a:tcPr marL="91440" marR="91440" marT="45720" marB="45720" anchor="ctr">
                    <a:solidFill>
                      <a:srgbClr val="17233A"/>
                    </a:solidFill>
                  </a:tcPr>
                </a:tc>
                <a:tc>
                  <a:txBody>
                    <a:bodyPr wrap="square"/>
                    <a:lstStyle/>
                    <a:p>
                      <a:r>
                        <a:rPr sz="1700" b="1" i="0">
                          <a:solidFill>
                            <a:srgbClr val="FFFFFF"/>
                          </a:solidFill>
                          <a:latin typeface="Calibri"/>
                        </a:rPr>
                        <a:t>Đạt 100% khi</a:t>
                      </a:r>
                    </a:p>
                  </a:txBody>
                  <a:tcPr marL="91440" marR="91440" marT="45720" marB="45720" anchor="ctr">
                    <a:solidFill>
                      <a:srgbClr val="17233A"/>
                    </a:solidFill>
                  </a:tcPr>
                </a:tc>
                <a:tc>
                  <a:txBody>
                    <a:bodyPr wrap="square"/>
                    <a:lstStyle/>
                    <a:p>
                      <a:r>
                        <a:rPr sz="1700" b="1" i="0">
                          <a:solidFill>
                            <a:srgbClr val="FFFFFF"/>
                          </a:solidFill>
                          <a:latin typeface="Calibri"/>
                        </a:rPr>
                        <a:t>Đạt 50% khi</a:t>
                      </a:r>
                    </a:p>
                  </a:txBody>
                  <a:tcPr marL="91440" marR="91440" marT="45720" marB="45720" anchor="ctr">
                    <a:solidFill>
                      <a:srgbClr val="17233A"/>
                    </a:solidFill>
                  </a:tcPr>
                </a:tc>
              </a:tr>
              <a:tr h="655828">
                <a:tc>
                  <a:txBody>
                    <a:bodyPr wrap="square"/>
                    <a:lstStyle/>
                    <a:p>
                      <a:r>
                        <a:rPr sz="1700" b="0" i="0">
                          <a:solidFill>
                            <a:srgbClr val="17233A"/>
                          </a:solidFill>
                          <a:latin typeface="Calibri"/>
                        </a:rPr>
                        <a:t>d</a:t>
                      </a:r>
                    </a:p>
                  </a:txBody>
                  <a:tcPr marL="91440" marR="91440" marT="45720" marB="45720" anchor="ctr">
                    <a:solidFill>
                      <a:srgbClr val="FFFFFF"/>
                    </a:solidFill>
                  </a:tcPr>
                </a:tc>
                <a:tc>
                  <a:txBody>
                    <a:bodyPr wrap="square"/>
                    <a:lstStyle/>
                    <a:p>
                      <a:r>
                        <a:rPr sz="1700" b="0" i="0">
                          <a:solidFill>
                            <a:srgbClr val="17233A"/>
                          </a:solidFill>
                          <a:latin typeface="Calibri"/>
                        </a:rPr>
                        <a:t>Kết quả hoạt động của đơn vị</a:t>
                      </a:r>
                    </a:p>
                  </a:txBody>
                  <a:tcPr marL="91440" marR="91440" marT="45720" marB="45720" anchor="ctr">
                    <a:solidFill>
                      <a:srgbClr val="FFFFFF"/>
                    </a:solidFill>
                  </a:tcPr>
                </a:tc>
                <a:tc>
                  <a:txBody>
                    <a:bodyPr wrap="square"/>
                    <a:lstStyle/>
                    <a:p>
                      <a:r>
                        <a:rPr sz="1700" b="0" i="0">
                          <a:solidFill>
                            <a:srgbClr val="17233A"/>
                          </a:solidFill>
                          <a:latin typeface="Calibri"/>
                        </a:rPr>
                        <a:t>Mọi công chức từ hoàn thành trở lên</a:t>
                      </a:r>
                    </a:p>
                  </a:txBody>
                  <a:tcPr marL="91440" marR="91440" marT="45720" marB="45720" anchor="ctr">
                    <a:solidFill>
                      <a:srgbClr val="FFFFFF"/>
                    </a:solidFill>
                  </a:tcPr>
                </a:tc>
                <a:tc>
                  <a:txBody>
                    <a:bodyPr wrap="square"/>
                    <a:lstStyle/>
                    <a:p>
                      <a:r>
                        <a:rPr sz="1700" b="0" i="0">
                          <a:solidFill>
                            <a:srgbClr val="17233A"/>
                          </a:solidFill>
                          <a:latin typeface="Calibri"/>
                        </a:rPr>
                        <a:t>Có người không hoàn thành</a:t>
                      </a:r>
                    </a:p>
                  </a:txBody>
                  <a:tcPr marL="91440" marR="91440" marT="45720" marB="45720" anchor="ctr">
                    <a:solidFill>
                      <a:srgbClr val="FFFFFF"/>
                    </a:solidFill>
                  </a:tcPr>
                </a:tc>
              </a:tr>
              <a:tr h="655828">
                <a:tc>
                  <a:txBody>
                    <a:bodyPr wrap="square"/>
                    <a:lstStyle/>
                    <a:p>
                      <a:r>
                        <a:rPr sz="1700" b="0" i="0">
                          <a:solidFill>
                            <a:srgbClr val="17233A"/>
                          </a:solidFill>
                          <a:latin typeface="Calibri"/>
                        </a:rPr>
                        <a:t>đ</a:t>
                      </a:r>
                    </a:p>
                  </a:txBody>
                  <a:tcPr marL="91440" marR="91440" marT="45720" marB="45720" anchor="ctr">
                    <a:solidFill>
                      <a:srgbClr val="F3F5F8"/>
                    </a:solidFill>
                  </a:tcPr>
                </a:tc>
                <a:tc>
                  <a:txBody>
                    <a:bodyPr wrap="square"/>
                    <a:lstStyle/>
                    <a:p>
                      <a:r>
                        <a:rPr sz="1700" b="0" i="0">
                          <a:solidFill>
                            <a:srgbClr val="17233A"/>
                          </a:solidFill>
                          <a:latin typeface="Calibri"/>
                        </a:rPr>
                        <a:t>Tổ chức triển khai nhiệm vụ</a:t>
                      </a:r>
                    </a:p>
                  </a:txBody>
                  <a:tcPr marL="91440" marR="91440" marT="45720" marB="45720" anchor="ctr">
                    <a:solidFill>
                      <a:srgbClr val="F3F5F8"/>
                    </a:solidFill>
                  </a:tcPr>
                </a:tc>
                <a:tc>
                  <a:txBody>
                    <a:bodyPr wrap="square"/>
                    <a:lstStyle/>
                    <a:p>
                      <a:r>
                        <a:rPr sz="1700" b="0" i="0">
                          <a:solidFill>
                            <a:srgbClr val="17233A"/>
                          </a:solidFill>
                          <a:latin typeface="Calibri"/>
                        </a:rPr>
                        <a:t>Đủ, đúng hạn, có giải pháp hiệu quả</a:t>
                      </a:r>
                    </a:p>
                  </a:txBody>
                  <a:tcPr marL="91440" marR="91440" marT="45720" marB="45720" anchor="ctr">
                    <a:solidFill>
                      <a:srgbClr val="F3F5F8"/>
                    </a:solidFill>
                  </a:tcPr>
                </a:tc>
                <a:tc>
                  <a:txBody>
                    <a:bodyPr wrap="square"/>
                    <a:lstStyle/>
                    <a:p>
                      <a:r>
                        <a:rPr sz="1700" b="0" i="0">
                          <a:solidFill>
                            <a:srgbClr val="17233A"/>
                          </a:solidFill>
                          <a:latin typeface="Calibri"/>
                        </a:rPr>
                        <a:t>Có tồn tại, chậm trễ kéo dài</a:t>
                      </a:r>
                    </a:p>
                  </a:txBody>
                  <a:tcPr marL="91440" marR="91440" marT="45720" marB="45720" anchor="ctr">
                    <a:solidFill>
                      <a:srgbClr val="F3F5F8"/>
                    </a:solidFill>
                  </a:tcPr>
                </a:tc>
              </a:tr>
              <a:tr h="655828">
                <a:tc>
                  <a:txBody>
                    <a:bodyPr wrap="square"/>
                    <a:lstStyle/>
                    <a:p>
                      <a:r>
                        <a:rPr sz="1700" b="0" i="0">
                          <a:solidFill>
                            <a:srgbClr val="17233A"/>
                          </a:solidFill>
                          <a:latin typeface="Calibri"/>
                        </a:rPr>
                        <a:t>e</a:t>
                      </a:r>
                    </a:p>
                  </a:txBody>
                  <a:tcPr marL="91440" marR="91440" marT="45720" marB="45720" anchor="ctr">
                    <a:solidFill>
                      <a:srgbClr val="FFFFFF"/>
                    </a:solidFill>
                  </a:tcPr>
                </a:tc>
                <a:tc>
                  <a:txBody>
                    <a:bodyPr wrap="square"/>
                    <a:lstStyle/>
                    <a:p>
                      <a:r>
                        <a:rPr sz="1700" b="0" i="0">
                          <a:solidFill>
                            <a:srgbClr val="17233A"/>
                          </a:solidFill>
                          <a:latin typeface="Calibri"/>
                        </a:rPr>
                        <a:t>Tập hợp, đoàn kết</a:t>
                      </a:r>
                    </a:p>
                  </a:txBody>
                  <a:tcPr marL="91440" marR="91440" marT="45720" marB="45720" anchor="ctr">
                    <a:solidFill>
                      <a:srgbClr val="FFFFFF"/>
                    </a:solidFill>
                  </a:tcPr>
                </a:tc>
                <a:tc>
                  <a:txBody>
                    <a:bodyPr wrap="square"/>
                    <a:lstStyle/>
                    <a:p>
                      <a:r>
                        <a:rPr sz="1700" b="0" i="0">
                          <a:solidFill>
                            <a:srgbClr val="17233A"/>
                          </a:solidFill>
                          <a:latin typeface="Calibri"/>
                        </a:rPr>
                        <a:t>Môi trường đoàn kết, phối hợp tốt</a:t>
                      </a:r>
                    </a:p>
                  </a:txBody>
                  <a:tcPr marL="91440" marR="91440" marT="45720" marB="45720" anchor="ctr">
                    <a:solidFill>
                      <a:srgbClr val="FFFFFF"/>
                    </a:solidFill>
                  </a:tcPr>
                </a:tc>
                <a:tc>
                  <a:txBody>
                    <a:bodyPr wrap="square"/>
                    <a:lstStyle/>
                    <a:p>
                      <a:r>
                        <a:rPr sz="1700" b="0" i="0">
                          <a:solidFill>
                            <a:srgbClr val="17233A"/>
                          </a:solidFill>
                          <a:latin typeface="Calibri"/>
                        </a:rPr>
                        <a:t>Có mất đoàn kết kéo dài</a:t>
                      </a:r>
                    </a:p>
                  </a:txBody>
                  <a:tcPr marL="91440" marR="91440" marT="45720" marB="4572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VÍ DỤ TÍNH ĐIỂM</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Một chuyên viên, một quý: 86,72 điểm</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Ví dụ minh họa, tiêu chí chung giả định 25 điểm · Cán bộ lãnh đạo với d = 100%, đ = 100%, e = 50% được 85,02</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7</a:t>
            </a:r>
          </a:p>
        </p:txBody>
      </p:sp>
      <p:graphicFrame>
        <p:nvGraphicFramePr>
          <p:cNvPr id="6" name="Bảng"/>
          <p:cNvGraphicFramePr>
            <a:graphicFrameLocks noGrp="1"/>
          </p:cNvGraphicFramePr>
          <p:nvPr/>
        </p:nvGraphicFramePr>
        <p:xfrm>
          <a:off x="548640" y="1627632"/>
          <a:ext cx="7680958" cy="2113786"/>
        </p:xfrm>
        <a:graphic>
          <a:graphicData uri="http://schemas.openxmlformats.org/drawingml/2006/table">
            <a:tbl>
              <a:tblPr firstRow="1" bandRow="1">
                <a:tableStyleId>{5C22544A-7EE6-4342-B048-85BDC9FD1C3A}</a:tableStyleId>
              </a:tblPr>
              <a:tblGrid>
                <a:gridCol w="3253112"/>
                <a:gridCol w="994006"/>
                <a:gridCol w="813278"/>
                <a:gridCol w="813278"/>
                <a:gridCol w="813278"/>
                <a:gridCol w="994006"/>
              </a:tblGrid>
              <a:tr h="655828">
                <a:tc>
                  <a:txBody>
                    <a:bodyPr wrap="square"/>
                    <a:lstStyle/>
                    <a:p>
                      <a:r>
                        <a:rPr sz="1700" b="1" i="0">
                          <a:solidFill>
                            <a:srgbClr val="FFFFFF"/>
                          </a:solidFill>
                          <a:latin typeface="Calibri"/>
                        </a:rPr>
                        <a:t>Công việc</a:t>
                      </a:r>
                    </a:p>
                  </a:txBody>
                  <a:tcPr marL="91440" marR="91440" marT="45720" marB="45720" anchor="ctr">
                    <a:solidFill>
                      <a:srgbClr val="17233A"/>
                    </a:solidFill>
                  </a:tcPr>
                </a:tc>
                <a:tc>
                  <a:txBody>
                    <a:bodyPr wrap="square"/>
                    <a:lstStyle/>
                    <a:p>
                      <a:pPr algn="r"/>
                      <a:r>
                        <a:rPr sz="1700" b="1" i="0">
                          <a:solidFill>
                            <a:srgbClr val="FFFFFF"/>
                          </a:solidFill>
                          <a:latin typeface="Calibri"/>
                        </a:rPr>
                        <a:t>Hệ số</a:t>
                      </a:r>
                    </a:p>
                  </a:txBody>
                  <a:tcPr marL="91440" marR="91440" marT="45720" marB="45720" anchor="ctr">
                    <a:solidFill>
                      <a:srgbClr val="17233A"/>
                    </a:solidFill>
                  </a:tcPr>
                </a:tc>
                <a:tc>
                  <a:txBody>
                    <a:bodyPr wrap="square"/>
                    <a:lstStyle/>
                    <a:p>
                      <a:pPr algn="r"/>
                      <a:r>
                        <a:rPr sz="1700" b="1" i="0">
                          <a:solidFill>
                            <a:srgbClr val="FFFFFF"/>
                          </a:solidFill>
                          <a:latin typeface="Calibri"/>
                        </a:rPr>
                        <a:t>Giao</a:t>
                      </a:r>
                    </a:p>
                  </a:txBody>
                  <a:tcPr marL="91440" marR="91440" marT="45720" marB="45720" anchor="ctr">
                    <a:solidFill>
                      <a:srgbClr val="17233A"/>
                    </a:solidFill>
                  </a:tcPr>
                </a:tc>
                <a:tc>
                  <a:txBody>
                    <a:bodyPr wrap="square"/>
                    <a:lstStyle/>
                    <a:p>
                      <a:pPr algn="r"/>
                      <a:r>
                        <a:rPr sz="1700" b="1" i="0">
                          <a:solidFill>
                            <a:srgbClr val="FFFFFF"/>
                          </a:solidFill>
                          <a:latin typeface="Calibri"/>
                        </a:rPr>
                        <a:t>Đạt</a:t>
                      </a:r>
                    </a:p>
                  </a:txBody>
                  <a:tcPr marL="91440" marR="91440" marT="45720" marB="45720" anchor="ctr">
                    <a:solidFill>
                      <a:srgbClr val="17233A"/>
                    </a:solidFill>
                  </a:tcPr>
                </a:tc>
                <a:tc>
                  <a:txBody>
                    <a:bodyPr wrap="square"/>
                    <a:lstStyle/>
                    <a:p>
                      <a:pPr algn="r"/>
                      <a:r>
                        <a:rPr sz="1700" b="1" i="0">
                          <a:solidFill>
                            <a:srgbClr val="FFFFFF"/>
                          </a:solidFill>
                          <a:latin typeface="Calibri"/>
                        </a:rPr>
                        <a:t>Chậm</a:t>
                      </a:r>
                    </a:p>
                  </a:txBody>
                  <a:tcPr marL="91440" marR="91440" marT="45720" marB="45720" anchor="ctr">
                    <a:solidFill>
                      <a:srgbClr val="17233A"/>
                    </a:solidFill>
                  </a:tcPr>
                </a:tc>
                <a:tc>
                  <a:txBody>
                    <a:bodyPr wrap="square"/>
                    <a:lstStyle/>
                    <a:p>
                      <a:pPr algn="r"/>
                      <a:r>
                        <a:rPr sz="1700" b="1" i="0">
                          <a:solidFill>
                            <a:srgbClr val="FFFFFF"/>
                          </a:solidFill>
                          <a:latin typeface="Calibri"/>
                        </a:rPr>
                        <a:t>Chưa đạt</a:t>
                      </a:r>
                    </a:p>
                  </a:txBody>
                  <a:tcPr marL="91440" marR="91440" marT="45720" marB="45720" anchor="ctr">
                    <a:solidFill>
                      <a:srgbClr val="17233A"/>
                    </a:solidFill>
                  </a:tcPr>
                </a:tc>
              </a:tr>
              <a:tr h="401065">
                <a:tc>
                  <a:txBody>
                    <a:bodyPr wrap="square"/>
                    <a:lstStyle/>
                    <a:p>
                      <a:r>
                        <a:rPr sz="1700" b="0" i="0">
                          <a:solidFill>
                            <a:srgbClr val="17233A"/>
                          </a:solidFill>
                          <a:latin typeface="Calibri"/>
                        </a:rPr>
                        <a:t>C.006 Soạn thảo văn bản</a:t>
                      </a:r>
                    </a:p>
                  </a:txBody>
                  <a:tcPr marL="91440" marR="91440" marT="45720" marB="45720" anchor="ctr">
                    <a:solidFill>
                      <a:srgbClr val="FFFFFF"/>
                    </a:solidFill>
                  </a:tcPr>
                </a:tc>
                <a:tc>
                  <a:txBody>
                    <a:bodyPr wrap="square"/>
                    <a:lstStyle/>
                    <a:p>
                      <a:pPr algn="r"/>
                      <a:r>
                        <a:rPr sz="1700" b="0" i="0">
                          <a:solidFill>
                            <a:srgbClr val="17233A"/>
                          </a:solidFill>
                          <a:latin typeface="Calibri"/>
                        </a:rPr>
                        <a:t>1</a:t>
                      </a:r>
                    </a:p>
                  </a:txBody>
                  <a:tcPr marL="91440" marR="91440" marT="45720" marB="45720" anchor="ctr">
                    <a:solidFill>
                      <a:srgbClr val="FFFFFF"/>
                    </a:solidFill>
                  </a:tcPr>
                </a:tc>
                <a:tc>
                  <a:txBody>
                    <a:bodyPr wrap="square"/>
                    <a:lstStyle/>
                    <a:p>
                      <a:pPr algn="r"/>
                      <a:r>
                        <a:rPr sz="1700" b="0" i="0">
                          <a:solidFill>
                            <a:srgbClr val="17233A"/>
                          </a:solidFill>
                          <a:latin typeface="Calibri"/>
                        </a:rPr>
                        <a:t>6</a:t>
                      </a:r>
                    </a:p>
                  </a:txBody>
                  <a:tcPr marL="91440" marR="91440" marT="45720" marB="45720" anchor="ctr">
                    <a:solidFill>
                      <a:srgbClr val="FFFFFF"/>
                    </a:solidFill>
                  </a:tcPr>
                </a:tc>
                <a:tc>
                  <a:txBody>
                    <a:bodyPr wrap="square"/>
                    <a:lstStyle/>
                    <a:p>
                      <a:pPr algn="r"/>
                      <a:r>
                        <a:rPr sz="1700" b="0" i="0">
                          <a:solidFill>
                            <a:srgbClr val="17233A"/>
                          </a:solidFill>
                          <a:latin typeface="Calibri"/>
                        </a:rPr>
                        <a:t>6</a:t>
                      </a:r>
                    </a:p>
                  </a:txBody>
                  <a:tcPr marL="91440" marR="91440" marT="45720" marB="45720" anchor="ctr">
                    <a:solidFill>
                      <a:srgbClr val="FFFFFF"/>
                    </a:solidFill>
                  </a:tcPr>
                </a:tc>
                <a:tc>
                  <a:txBody>
                    <a:bodyPr wrap="square"/>
                    <a:lstStyle/>
                    <a:p>
                      <a:pPr algn="r"/>
                      <a:r>
                        <a:rPr sz="1700" b="0" i="0">
                          <a:solidFill>
                            <a:srgbClr val="17233A"/>
                          </a:solidFill>
                          <a:latin typeface="Calibri"/>
                        </a:rPr>
                        <a:t>0</a:t>
                      </a:r>
                    </a:p>
                  </a:txBody>
                  <a:tcPr marL="91440" marR="91440" marT="45720" marB="45720" anchor="ctr">
                    <a:solidFill>
                      <a:srgbClr val="FFFFFF"/>
                    </a:solidFill>
                  </a:tcPr>
                </a:tc>
                <a:tc>
                  <a:txBody>
                    <a:bodyPr wrap="square"/>
                    <a:lstStyle/>
                    <a:p>
                      <a:pPr algn="r"/>
                      <a:r>
                        <a:rPr sz="1700" b="0" i="0">
                          <a:solidFill>
                            <a:srgbClr val="17233A"/>
                          </a:solidFill>
                          <a:latin typeface="Calibri"/>
                        </a:rPr>
                        <a:t>0</a:t>
                      </a:r>
                    </a:p>
                  </a:txBody>
                  <a:tcPr marL="91440" marR="91440" marT="45720" marB="45720" anchor="ctr">
                    <a:solidFill>
                      <a:srgbClr val="FFFFFF"/>
                    </a:solidFill>
                  </a:tcPr>
                </a:tc>
              </a:tr>
              <a:tr h="655828">
                <a:tc>
                  <a:txBody>
                    <a:bodyPr wrap="square"/>
                    <a:lstStyle/>
                    <a:p>
                      <a:r>
                        <a:rPr sz="1700" b="0" i="0">
                          <a:solidFill>
                            <a:srgbClr val="17233A"/>
                          </a:solidFill>
                          <a:latin typeface="Calibri"/>
                        </a:rPr>
                        <a:t>C.005 Cập nhật thông tin cán bộ</a:t>
                      </a:r>
                    </a:p>
                  </a:txBody>
                  <a:tcPr marL="91440" marR="91440" marT="45720" marB="45720" anchor="ctr">
                    <a:solidFill>
                      <a:srgbClr val="F3F5F8"/>
                    </a:solidFill>
                  </a:tcPr>
                </a:tc>
                <a:tc>
                  <a:txBody>
                    <a:bodyPr wrap="square"/>
                    <a:lstStyle/>
                    <a:p>
                      <a:pPr algn="r"/>
                      <a:r>
                        <a:rPr sz="1700" b="0" i="0">
                          <a:solidFill>
                            <a:srgbClr val="17233A"/>
                          </a:solidFill>
                          <a:latin typeface="Calibri"/>
                        </a:rPr>
                        <a:t>0,7778</a:t>
                      </a:r>
                    </a:p>
                  </a:txBody>
                  <a:tcPr marL="91440" marR="91440" marT="45720" marB="45720" anchor="ctr">
                    <a:solidFill>
                      <a:srgbClr val="F3F5F8"/>
                    </a:solidFill>
                  </a:tcPr>
                </a:tc>
                <a:tc>
                  <a:txBody>
                    <a:bodyPr wrap="square"/>
                    <a:lstStyle/>
                    <a:p>
                      <a:pPr algn="r"/>
                      <a:r>
                        <a:rPr sz="1700" b="0" i="0">
                          <a:solidFill>
                            <a:srgbClr val="17233A"/>
                          </a:solidFill>
                          <a:latin typeface="Calibri"/>
                        </a:rPr>
                        <a:t>20</a:t>
                      </a:r>
                    </a:p>
                  </a:txBody>
                  <a:tcPr marL="91440" marR="91440" marT="45720" marB="45720" anchor="ctr">
                    <a:solidFill>
                      <a:srgbClr val="F3F5F8"/>
                    </a:solidFill>
                  </a:tcPr>
                </a:tc>
                <a:tc>
                  <a:txBody>
                    <a:bodyPr wrap="square"/>
                    <a:lstStyle/>
                    <a:p>
                      <a:pPr algn="r"/>
                      <a:r>
                        <a:rPr sz="1700" b="0" i="0">
                          <a:solidFill>
                            <a:srgbClr val="17233A"/>
                          </a:solidFill>
                          <a:latin typeface="Calibri"/>
                        </a:rPr>
                        <a:t>18</a:t>
                      </a:r>
                    </a:p>
                  </a:txBody>
                  <a:tcPr marL="91440" marR="91440" marT="45720" marB="45720" anchor="ctr">
                    <a:solidFill>
                      <a:srgbClr val="F3F5F8"/>
                    </a:solidFill>
                  </a:tcPr>
                </a:tc>
                <a:tc>
                  <a:txBody>
                    <a:bodyPr wrap="square"/>
                    <a:lstStyle/>
                    <a:p>
                      <a:pPr algn="r"/>
                      <a:r>
                        <a:rPr sz="1700" b="0" i="0">
                          <a:solidFill>
                            <a:srgbClr val="17233A"/>
                          </a:solidFill>
                          <a:latin typeface="Calibri"/>
                        </a:rPr>
                        <a:t>1</a:t>
                      </a:r>
                    </a:p>
                  </a:txBody>
                  <a:tcPr marL="91440" marR="91440" marT="45720" marB="45720" anchor="ctr">
                    <a:solidFill>
                      <a:srgbClr val="F3F5F8"/>
                    </a:solidFill>
                  </a:tcPr>
                </a:tc>
                <a:tc>
                  <a:txBody>
                    <a:bodyPr wrap="square"/>
                    <a:lstStyle/>
                    <a:p>
                      <a:pPr algn="r"/>
                      <a:r>
                        <a:rPr sz="1700" b="0" i="0">
                          <a:solidFill>
                            <a:srgbClr val="17233A"/>
                          </a:solidFill>
                          <a:latin typeface="Calibri"/>
                        </a:rPr>
                        <a:t>0</a:t>
                      </a:r>
                    </a:p>
                  </a:txBody>
                  <a:tcPr marL="91440" marR="91440" marT="45720" marB="45720" anchor="ctr">
                    <a:solidFill>
                      <a:srgbClr val="F3F5F8"/>
                    </a:solidFill>
                  </a:tcPr>
                </a:tc>
              </a:tr>
              <a:tr h="401065">
                <a:tc>
                  <a:txBody>
                    <a:bodyPr wrap="square"/>
                    <a:lstStyle/>
                    <a:p>
                      <a:r>
                        <a:rPr sz="1700" b="0" i="0">
                          <a:solidFill>
                            <a:srgbClr val="17233A"/>
                          </a:solidFill>
                          <a:latin typeface="Calibri"/>
                        </a:rPr>
                        <a:t>C.007 Thẩm định hồ sơ</a:t>
                      </a:r>
                    </a:p>
                  </a:txBody>
                  <a:tcPr marL="91440" marR="91440" marT="45720" marB="45720" anchor="ctr">
                    <a:solidFill>
                      <a:srgbClr val="FFFFFF"/>
                    </a:solidFill>
                  </a:tcPr>
                </a:tc>
                <a:tc>
                  <a:txBody>
                    <a:bodyPr wrap="square"/>
                    <a:lstStyle/>
                    <a:p>
                      <a:pPr algn="r"/>
                      <a:r>
                        <a:rPr sz="1700" b="0" i="0">
                          <a:solidFill>
                            <a:srgbClr val="17233A"/>
                          </a:solidFill>
                          <a:latin typeface="Calibri"/>
                        </a:rPr>
                        <a:t>1,2222</a:t>
                      </a:r>
                    </a:p>
                  </a:txBody>
                  <a:tcPr marL="91440" marR="91440" marT="45720" marB="45720" anchor="ctr">
                    <a:solidFill>
                      <a:srgbClr val="FFFFFF"/>
                    </a:solidFill>
                  </a:tcPr>
                </a:tc>
                <a:tc>
                  <a:txBody>
                    <a:bodyPr wrap="square"/>
                    <a:lstStyle/>
                    <a:p>
                      <a:pPr algn="r"/>
                      <a:r>
                        <a:rPr sz="1700" b="0" i="0">
                          <a:solidFill>
                            <a:srgbClr val="17233A"/>
                          </a:solidFill>
                          <a:latin typeface="Calibri"/>
                        </a:rPr>
                        <a:t>4</a:t>
                      </a:r>
                    </a:p>
                  </a:txBody>
                  <a:tcPr marL="91440" marR="91440" marT="45720" marB="45720" anchor="ctr">
                    <a:solidFill>
                      <a:srgbClr val="FFFFFF"/>
                    </a:solidFill>
                  </a:tcPr>
                </a:tc>
                <a:tc>
                  <a:txBody>
                    <a:bodyPr wrap="square"/>
                    <a:lstStyle/>
                    <a:p>
                      <a:pPr algn="r"/>
                      <a:r>
                        <a:rPr sz="1700" b="0" i="0">
                          <a:solidFill>
                            <a:srgbClr val="17233A"/>
                          </a:solidFill>
                          <a:latin typeface="Calibri"/>
                        </a:rPr>
                        <a:t>4</a:t>
                      </a:r>
                    </a:p>
                  </a:txBody>
                  <a:tcPr marL="91440" marR="91440" marT="45720" marB="45720" anchor="ctr">
                    <a:solidFill>
                      <a:srgbClr val="FFFFFF"/>
                    </a:solidFill>
                  </a:tcPr>
                </a:tc>
                <a:tc>
                  <a:txBody>
                    <a:bodyPr wrap="square"/>
                    <a:lstStyle/>
                    <a:p>
                      <a:pPr algn="r"/>
                      <a:r>
                        <a:rPr sz="1700" b="0" i="0">
                          <a:solidFill>
                            <a:srgbClr val="17233A"/>
                          </a:solidFill>
                          <a:latin typeface="Calibri"/>
                        </a:rPr>
                        <a:t>0</a:t>
                      </a:r>
                    </a:p>
                  </a:txBody>
                  <a:tcPr marL="91440" marR="91440" marT="45720" marB="45720" anchor="ctr">
                    <a:solidFill>
                      <a:srgbClr val="FFFFFF"/>
                    </a:solidFill>
                  </a:tcPr>
                </a:tc>
                <a:tc>
                  <a:txBody>
                    <a:bodyPr wrap="square"/>
                    <a:lstStyle/>
                    <a:p>
                      <a:pPr algn="r"/>
                      <a:r>
                        <a:rPr sz="1700" b="0" i="0">
                          <a:solidFill>
                            <a:srgbClr val="17233A"/>
                          </a:solidFill>
                          <a:latin typeface="Calibri"/>
                        </a:rPr>
                        <a:t>1</a:t>
                      </a:r>
                    </a:p>
                  </a:txBody>
                  <a:tcPr marL="91440" marR="91440" marT="45720" marB="45720" anchor="ctr">
                    <a:solidFill>
                      <a:srgbClr val="FFFFFF"/>
                    </a:solidFill>
                  </a:tcPr>
                </a:tc>
              </a:tr>
            </a:tbl>
          </a:graphicData>
        </a:graphic>
      </p:graphicFrame>
      <p:sp>
        <p:nvSpPr>
          <p:cNvPr id="7" name="TextBox 6"/>
          <p:cNvSpPr txBox="1"/>
          <p:nvPr/>
        </p:nvSpPr>
        <p:spPr>
          <a:xfrm>
            <a:off x="548640" y="4061460"/>
            <a:ext cx="7680960" cy="1371600"/>
          </a:xfrm>
          <a:prstGeom prst="rect">
            <a:avLst/>
          </a:prstGeom>
          <a:noFill/>
        </p:spPr>
        <p:txBody>
          <a:bodyPr wrap="square" anchor="t" lIns="0" rIns="0" tIns="0" bIns="0">
            <a:spAutoFit/>
          </a:bodyPr>
          <a:lstStyle/>
          <a:p>
            <a:pPr algn="l">
              <a:spcAft>
                <a:spcPts val="600"/>
              </a:spcAft>
            </a:pPr>
            <a:r>
              <a:rPr sz="1800" b="0" i="0">
                <a:solidFill>
                  <a:srgbClr val="3B4658"/>
                </a:solidFill>
                <a:latin typeface="Calibri"/>
              </a:rPr>
              <a:t>a = 0,9412 · b = 0,8950 · c = 0,8088</a:t>
            </a:r>
          </a:p>
          <a:p>
            <a:pPr algn="l">
              <a:spcAft>
                <a:spcPts val="600"/>
              </a:spcAft>
            </a:pPr>
            <a:r>
              <a:rPr sz="1800" b="0" i="0">
                <a:solidFill>
                  <a:srgbClr val="3B4658"/>
                </a:solidFill>
                <a:latin typeface="Calibri"/>
              </a:rPr>
              <a:t>KPI = (0,9412 + 0,8950 + 0,8088) / 3 = 0,8817</a:t>
            </a:r>
          </a:p>
          <a:p>
            <a:pPr algn="l">
              <a:spcAft>
                <a:spcPts val="600"/>
              </a:spcAft>
            </a:pPr>
            <a:r>
              <a:rPr sz="1800" b="0" i="0">
                <a:solidFill>
                  <a:srgbClr val="3B4658"/>
                </a:solidFill>
                <a:latin typeface="Calibri"/>
              </a:rPr>
              <a:t>Điểm kết quả = 0,8817 × 70 = 61,72</a:t>
            </a:r>
          </a:p>
        </p:txBody>
      </p:sp>
      <p:sp>
        <p:nvSpPr>
          <p:cNvPr id="8" name="Rounded Rectangle 7"/>
          <p:cNvSpPr/>
          <p:nvPr/>
        </p:nvSpPr>
        <p:spPr>
          <a:xfrm>
            <a:off x="8595360" y="1627632"/>
            <a:ext cx="3047695" cy="3749039"/>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0" y="1901952"/>
            <a:ext cx="2499055" cy="320040"/>
          </a:xfrm>
          <a:prstGeom prst="rect">
            <a:avLst/>
          </a:prstGeom>
          <a:noFill/>
        </p:spPr>
        <p:txBody>
          <a:bodyPr wrap="square" anchor="t" lIns="0" rIns="0" tIns="0" bIns="0">
            <a:spAutoFit/>
          </a:bodyPr>
          <a:lstStyle/>
          <a:p>
            <a:pPr algn="l">
              <a:spcAft>
                <a:spcPts val="0"/>
              </a:spcAft>
            </a:pPr>
            <a:r>
              <a:rPr sz="1600" b="0" i="0">
                <a:solidFill>
                  <a:srgbClr val="C9D1DD"/>
                </a:solidFill>
                <a:latin typeface="Calibri"/>
              </a:rPr>
              <a:t>Tổng điểm</a:t>
            </a:r>
          </a:p>
        </p:txBody>
      </p:sp>
      <p:sp>
        <p:nvSpPr>
          <p:cNvPr id="10" name="TextBox 9"/>
          <p:cNvSpPr txBox="1"/>
          <p:nvPr/>
        </p:nvSpPr>
        <p:spPr>
          <a:xfrm>
            <a:off x="8869680" y="2313432"/>
            <a:ext cx="2499055" cy="1005840"/>
          </a:xfrm>
          <a:prstGeom prst="rect">
            <a:avLst/>
          </a:prstGeom>
          <a:noFill/>
        </p:spPr>
        <p:txBody>
          <a:bodyPr wrap="square" anchor="t" lIns="0" rIns="0" tIns="0" bIns="0">
            <a:spAutoFit/>
          </a:bodyPr>
          <a:lstStyle/>
          <a:p>
            <a:pPr algn="l">
              <a:spcAft>
                <a:spcPts val="0"/>
              </a:spcAft>
            </a:pPr>
            <a:r>
              <a:rPr sz="6000" b="1" i="0">
                <a:solidFill>
                  <a:srgbClr val="E3B04B"/>
                </a:solidFill>
                <a:latin typeface="Cambria"/>
              </a:rPr>
              <a:t>86,72</a:t>
            </a:r>
          </a:p>
        </p:txBody>
      </p:sp>
      <p:sp>
        <p:nvSpPr>
          <p:cNvPr id="11" name="TextBox 10"/>
          <p:cNvSpPr txBox="1"/>
          <p:nvPr/>
        </p:nvSpPr>
        <p:spPr>
          <a:xfrm>
            <a:off x="8869680" y="3547872"/>
            <a:ext cx="2499055" cy="1554480"/>
          </a:xfrm>
          <a:prstGeom prst="rect">
            <a:avLst/>
          </a:prstGeom>
          <a:noFill/>
        </p:spPr>
        <p:txBody>
          <a:bodyPr wrap="square" anchor="t" lIns="0" rIns="0" tIns="0" bIns="0">
            <a:spAutoFit/>
          </a:bodyPr>
          <a:lstStyle/>
          <a:p>
            <a:pPr algn="l">
              <a:spcAft>
                <a:spcPts val="0"/>
              </a:spcAft>
            </a:pPr>
            <a:r>
              <a:rPr sz="1600" b="0" i="0">
                <a:solidFill>
                  <a:srgbClr val="DCE4EE"/>
                </a:solidFill>
                <a:latin typeface="Calibri"/>
              </a:rPr>
              <a:t>25 điểm chung + 61,72 điểm kết quả: hoàn thành tốt nhiệm vụ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CHU KỲ ĐÁNH GIÁ</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Tháng là kỳ cơ bản, quý và năm tổng hợp từ tháng</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11, 14, 17 · 05-HD/TU mục III</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8</a:t>
            </a:r>
          </a:p>
        </p:txBody>
      </p:sp>
      <p:graphicFrame>
        <p:nvGraphicFramePr>
          <p:cNvPr id="6" name="Bảng"/>
          <p:cNvGraphicFramePr>
            <a:graphicFrameLocks noGrp="1"/>
          </p:cNvGraphicFramePr>
          <p:nvPr/>
        </p:nvGraphicFramePr>
        <p:xfrm>
          <a:off x="548640" y="1627632"/>
          <a:ext cx="11094413" cy="2473451"/>
        </p:xfrm>
        <a:graphic>
          <a:graphicData uri="http://schemas.openxmlformats.org/drawingml/2006/table">
            <a:tbl>
              <a:tblPr firstRow="1" bandRow="1">
                <a:tableStyleId>{5C22544A-7EE6-4342-B048-85BDC9FD1C3A}</a:tableStyleId>
              </a:tblPr>
              <a:tblGrid>
                <a:gridCol w="1191961"/>
                <a:gridCol w="4951226"/>
                <a:gridCol w="4951226"/>
              </a:tblGrid>
              <a:tr h="416051">
                <a:tc>
                  <a:txBody>
                    <a:bodyPr wrap="square"/>
                    <a:lstStyle/>
                    <a:p>
                      <a:r>
                        <a:rPr sz="1800" b="1" i="0">
                          <a:solidFill>
                            <a:srgbClr val="FFFFFF"/>
                          </a:solidFill>
                          <a:latin typeface="Calibri"/>
                        </a:rPr>
                        <a:t>Kỳ</a:t>
                      </a:r>
                    </a:p>
                  </a:txBody>
                  <a:tcPr marL="91440" marR="91440" marT="45720" marB="45720" anchor="ctr">
                    <a:solidFill>
                      <a:srgbClr val="17233A"/>
                    </a:solidFill>
                  </a:tcPr>
                </a:tc>
                <a:tc>
                  <a:txBody>
                    <a:bodyPr wrap="square"/>
                    <a:lstStyle/>
                    <a:p>
                      <a:r>
                        <a:rPr sz="1800" b="1" i="0">
                          <a:solidFill>
                            <a:srgbClr val="FFFFFF"/>
                          </a:solidFill>
                          <a:latin typeface="Calibri"/>
                        </a:rPr>
                        <a:t>Quy định</a:t>
                      </a:r>
                    </a:p>
                  </a:txBody>
                  <a:tcPr marL="91440" marR="91440" marT="45720" marB="45720" anchor="ctr">
                    <a:solidFill>
                      <a:srgbClr val="17233A"/>
                    </a:solidFill>
                  </a:tcPr>
                </a:tc>
                <a:tc>
                  <a:txBody>
                    <a:bodyPr wrap="square"/>
                    <a:lstStyle/>
                    <a:p>
                      <a:r>
                        <a:rPr sz="1800" b="1" i="0">
                          <a:solidFill>
                            <a:srgbClr val="FFFFFF"/>
                          </a:solidFill>
                          <a:latin typeface="Calibri"/>
                        </a:rPr>
                        <a:t>Phần mềm</a:t>
                      </a:r>
                    </a:p>
                  </a:txBody>
                  <a:tcPr marL="91440" marR="91440" marT="45720" marB="45720" anchor="ctr">
                    <a:solidFill>
                      <a:srgbClr val="17233A"/>
                    </a:solidFill>
                  </a:tcPr>
                </a:tc>
              </a:tr>
              <a:tr h="685800">
                <a:tc>
                  <a:txBody>
                    <a:bodyPr wrap="square"/>
                    <a:lstStyle/>
                    <a:p>
                      <a:r>
                        <a:rPr sz="1800" b="1" i="0">
                          <a:solidFill>
                            <a:srgbClr val="17233A"/>
                          </a:solidFill>
                          <a:latin typeface="Calibri"/>
                        </a:rPr>
                        <a:t>Tháng</a:t>
                      </a:r>
                    </a:p>
                  </a:txBody>
                  <a:tcPr marL="91440" marR="91440" marT="45720" marB="45720" anchor="ctr">
                    <a:solidFill>
                      <a:srgbClr val="FFFFFF"/>
                    </a:solidFill>
                  </a:tcPr>
                </a:tc>
                <a:tc>
                  <a:txBody>
                    <a:bodyPr wrap="square"/>
                    <a:lstStyle/>
                    <a:p>
                      <a:r>
                        <a:rPr sz="1800" b="0" i="0">
                          <a:solidFill>
                            <a:srgbClr val="17233A"/>
                          </a:solidFill>
                          <a:latin typeface="Calibri"/>
                        </a:rPr>
                        <a:t>Tự đánh giá, cấp có thẩm quyền nhận xét, xác nhận (Điều 14.1, 17.2)</a:t>
                      </a:r>
                    </a:p>
                  </a:txBody>
                  <a:tcPr marL="91440" marR="91440" marT="45720" marB="45720" anchor="ctr">
                    <a:solidFill>
                      <a:srgbClr val="FFFFFF"/>
                    </a:solidFill>
                  </a:tcPr>
                </a:tc>
                <a:tc>
                  <a:txBody>
                    <a:bodyPr wrap="square"/>
                    <a:lstStyle/>
                    <a:p>
                      <a:r>
                        <a:rPr sz="1800" b="0" i="0">
                          <a:solidFill>
                            <a:srgbClr val="17233A"/>
                          </a:solidFill>
                          <a:latin typeface="Calibri"/>
                        </a:rPr>
                        <a:t>Có, tính điểm đầy đủ</a:t>
                      </a:r>
                    </a:p>
                  </a:txBody>
                  <a:tcPr marL="91440" marR="91440" marT="45720" marB="45720" anchor="ctr">
                    <a:solidFill>
                      <a:srgbClr val="FFFFFF"/>
                    </a:solidFill>
                  </a:tcPr>
                </a:tc>
              </a:tr>
              <a:tr h="685800">
                <a:tc>
                  <a:txBody>
                    <a:bodyPr wrap="square"/>
                    <a:lstStyle/>
                    <a:p>
                      <a:r>
                        <a:rPr sz="1800" b="1" i="0">
                          <a:solidFill>
                            <a:srgbClr val="17233A"/>
                          </a:solidFill>
                          <a:latin typeface="Calibri"/>
                        </a:rPr>
                        <a:t>Quý</a:t>
                      </a:r>
                    </a:p>
                  </a:txBody>
                  <a:tcPr marL="91440" marR="91440" marT="45720" marB="45720" anchor="ctr">
                    <a:solidFill>
                      <a:srgbClr val="F3F5F8"/>
                    </a:solidFill>
                  </a:tcPr>
                </a:tc>
                <a:tc>
                  <a:txBody>
                    <a:bodyPr wrap="square"/>
                    <a:lstStyle/>
                    <a:p>
                      <a:r>
                        <a:rPr sz="1800" b="0" i="0">
                          <a:solidFill>
                            <a:srgbClr val="17233A"/>
                          </a:solidFill>
                          <a:latin typeface="Calibri"/>
                        </a:rPr>
                        <a:t>Tháng hoặc quý chấm trực tiếp (Điều 17.1). Xếp loại chính thức quý I, II, III</a:t>
                      </a:r>
                    </a:p>
                  </a:txBody>
                  <a:tcPr marL="91440" marR="91440" marT="45720" marB="45720" anchor="ctr">
                    <a:solidFill>
                      <a:srgbClr val="F3F5F8"/>
                    </a:solidFill>
                  </a:tcPr>
                </a:tc>
                <a:tc>
                  <a:txBody>
                    <a:bodyPr wrap="square"/>
                    <a:lstStyle/>
                    <a:p>
                      <a:r>
                        <a:rPr sz="1800" b="0" i="0">
                          <a:solidFill>
                            <a:srgbClr val="17233A"/>
                          </a:solidFill>
                          <a:latin typeface="Calibri"/>
                        </a:rPr>
                        <a:t>Có. Chấm trực tiếp từ việc trong quý</a:t>
                      </a:r>
                    </a:p>
                  </a:txBody>
                  <a:tcPr marL="91440" marR="91440" marT="45720" marB="45720" anchor="ctr">
                    <a:solidFill>
                      <a:srgbClr val="F3F5F8"/>
                    </a:solidFill>
                  </a:tcPr>
                </a:tc>
              </a:tr>
              <a:tr h="685800">
                <a:tc>
                  <a:txBody>
                    <a:bodyPr wrap="square"/>
                    <a:lstStyle/>
                    <a:p>
                      <a:r>
                        <a:rPr sz="1800" b="1" i="0">
                          <a:solidFill>
                            <a:srgbClr val="17233A"/>
                          </a:solidFill>
                          <a:latin typeface="Calibri"/>
                        </a:rPr>
                        <a:t>Năm</a:t>
                      </a:r>
                    </a:p>
                  </a:txBody>
                  <a:tcPr marL="91440" marR="91440" marT="45720" marB="45720" anchor="ctr">
                    <a:solidFill>
                      <a:srgbClr val="FFFFFF"/>
                    </a:solidFill>
                  </a:tcPr>
                </a:tc>
                <a:tc>
                  <a:txBody>
                    <a:bodyPr wrap="square"/>
                    <a:lstStyle/>
                    <a:p>
                      <a:r>
                        <a:rPr sz="1800" b="0" i="0">
                          <a:solidFill>
                            <a:srgbClr val="17233A"/>
                          </a:solidFill>
                          <a:latin typeface="Calibri"/>
                        </a:rPr>
                        <a:t>Trung bình 12 tháng. Quý IV gộp vào năm (05-HD/TU mục III)</a:t>
                      </a:r>
                    </a:p>
                  </a:txBody>
                  <a:tcPr marL="91440" marR="91440" marT="45720" marB="45720" anchor="ctr">
                    <a:solidFill>
                      <a:srgbClr val="FFFFFF"/>
                    </a:solidFill>
                  </a:tcPr>
                </a:tc>
                <a:tc>
                  <a:txBody>
                    <a:bodyPr wrap="square"/>
                    <a:lstStyle/>
                    <a:p>
                      <a:r>
                        <a:rPr sz="1800" b="0" i="0">
                          <a:solidFill>
                            <a:srgbClr val="17233A"/>
                          </a:solidFill>
                          <a:latin typeface="Calibri"/>
                        </a:rPr>
                        <a:t>Có. Trung bình các tháng đã phê duyệt, từ 6 tháng; tháng nghỉ có căn cứ được miễn</a:t>
                      </a:r>
                    </a:p>
                  </a:txBody>
                  <a:tcPr marL="91440" marR="91440" marT="45720" marB="45720" anchor="ctr">
                    <a:solidFill>
                      <a:srgbClr val="FFFFFF"/>
                    </a:solidFill>
                  </a:tcPr>
                </a:tc>
              </a:tr>
            </a:tbl>
          </a:graphicData>
        </a:graphic>
      </p:graphicFrame>
      <p:sp>
        <p:nvSpPr>
          <p:cNvPr id="7" name="Thẻ"/>
          <p:cNvSpPr/>
          <p:nvPr/>
        </p:nvSpPr>
        <p:spPr>
          <a:xfrm>
            <a:off x="548640" y="4375404"/>
            <a:ext cx="11094415" cy="16916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604004"/>
            <a:ext cx="10637215" cy="314705"/>
          </a:xfrm>
          <a:prstGeom prst="rect">
            <a:avLst/>
          </a:prstGeom>
          <a:noFill/>
        </p:spPr>
        <p:txBody>
          <a:bodyPr wrap="square" anchor="t" lIns="0" rIns="0" tIns="0" bIns="0">
            <a:spAutoFit/>
          </a:bodyPr>
          <a:lstStyle/>
          <a:p>
            <a:pPr algn="l">
              <a:spcAft>
                <a:spcPts val="0"/>
              </a:spcAft>
            </a:pPr>
            <a:r>
              <a:rPr sz="2100" b="1" i="0">
                <a:solidFill>
                  <a:srgbClr val="17233A"/>
                </a:solidFill>
                <a:latin typeface="Calibri"/>
              </a:rPr>
              <a:t>Điểm năm là trung bình các tháng</a:t>
            </a:r>
          </a:p>
        </p:txBody>
      </p:sp>
      <p:sp>
        <p:nvSpPr>
          <p:cNvPr id="9" name="Nội dung thẻ"/>
          <p:cNvSpPr txBox="1"/>
          <p:nvPr/>
        </p:nvSpPr>
        <p:spPr>
          <a:xfrm>
            <a:off x="777240" y="5010150"/>
            <a:ext cx="10637215" cy="874013"/>
          </a:xfrm>
          <a:prstGeom prst="rect">
            <a:avLst/>
          </a:prstGeom>
          <a:noFill/>
        </p:spPr>
        <p:txBody>
          <a:bodyPr wrap="square" anchor="t" lIns="0" rIns="0" tIns="0" bIns="0">
            <a:spAutoFit/>
          </a:bodyPr>
          <a:lstStyle/>
          <a:p>
            <a:pPr algn="l">
              <a:spcAft>
                <a:spcPts val="600"/>
              </a:spcAft>
            </a:pPr>
            <a:r>
              <a:rPr sz="1800" b="0" i="0">
                <a:solidFill>
                  <a:srgbClr val="3B4658"/>
                </a:solidFill>
                <a:latin typeface="Calibri"/>
              </a:rPr>
              <a:t>Hồ sơ năm lấy trung bình cộng điểm các tháng đã phê duyệt (Điều 17.3), cần từ 6 tháng (Điều 11.1). Tháng nghỉ ốm, thai sản có căn cứ không tính vào trung bình (Điều 11.2). Có bảng trung bình quý và 6 tháng để theo dõi (đề xuất, chờ xác nhận).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TẬP THỂ PHÒNG, BAN</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Tập thể chấm riêng: 30 chung và sáu trục 70 điểm</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6, 7, 9 · Đề xuất sáu trục từ tám nhóm của Điều 7.1</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9</a:t>
            </a:r>
          </a:p>
        </p:txBody>
      </p:sp>
      <p:graphicFrame>
        <p:nvGraphicFramePr>
          <p:cNvPr id="6" name="Bảng"/>
          <p:cNvGraphicFramePr>
            <a:graphicFrameLocks noGrp="1"/>
          </p:cNvGraphicFramePr>
          <p:nvPr/>
        </p:nvGraphicFramePr>
        <p:xfrm>
          <a:off x="548640" y="1627632"/>
          <a:ext cx="11094414" cy="2807455"/>
        </p:xfrm>
        <a:graphic>
          <a:graphicData uri="http://schemas.openxmlformats.org/drawingml/2006/table">
            <a:tbl>
              <a:tblPr firstRow="1" bandRow="1">
                <a:tableStyleId>{5C22544A-7EE6-4342-B048-85BDC9FD1C3A}</a:tableStyleId>
              </a:tblPr>
              <a:tblGrid>
                <a:gridCol w="5134605"/>
                <a:gridCol w="1008583"/>
                <a:gridCol w="4951226"/>
              </a:tblGrid>
              <a:tr h="401065">
                <a:tc>
                  <a:txBody>
                    <a:bodyPr wrap="square"/>
                    <a:lstStyle/>
                    <a:p>
                      <a:r>
                        <a:rPr sz="1700" b="1" i="0">
                          <a:solidFill>
                            <a:srgbClr val="FFFFFF"/>
                          </a:solidFill>
                          <a:latin typeface="Calibri"/>
                        </a:rPr>
                        <a:t>Trục kết quả (đề xuất)</a:t>
                      </a:r>
                    </a:p>
                  </a:txBody>
                  <a:tcPr marL="91440" marR="91440" marT="45720" marB="45720" anchor="ctr">
                    <a:solidFill>
                      <a:srgbClr val="17233A"/>
                    </a:solidFill>
                  </a:tcPr>
                </a:tc>
                <a:tc>
                  <a:txBody>
                    <a:bodyPr wrap="square"/>
                    <a:lstStyle/>
                    <a:p>
                      <a:pPr algn="r"/>
                      <a:r>
                        <a:rPr sz="1700" b="1" i="0">
                          <a:solidFill>
                            <a:srgbClr val="FFFFFF"/>
                          </a:solidFill>
                          <a:latin typeface="Calibri"/>
                        </a:rPr>
                        <a:t>Điểm</a:t>
                      </a:r>
                    </a:p>
                  </a:txBody>
                  <a:tcPr marL="91440" marR="91440" marT="45720" marB="45720" anchor="ctr">
                    <a:solidFill>
                      <a:srgbClr val="17233A"/>
                    </a:solidFill>
                  </a:tcPr>
                </a:tc>
                <a:tc>
                  <a:txBody>
                    <a:bodyPr wrap="square"/>
                    <a:lstStyle/>
                    <a:p>
                      <a:r>
                        <a:rPr sz="1700" b="1" i="0">
                          <a:solidFill>
                            <a:srgbClr val="FFFFFF"/>
                          </a:solidFill>
                          <a:latin typeface="Calibri"/>
                        </a:rPr>
                        <a:t>Nguồn dữ liệu</a:t>
                      </a:r>
                    </a:p>
                  </a:txBody>
                  <a:tcPr marL="91440" marR="91440" marT="45720" marB="45720" anchor="ctr">
                    <a:solidFill>
                      <a:srgbClr val="17233A"/>
                    </a:solidFill>
                  </a:tcPr>
                </a:tc>
              </a:tr>
              <a:tr h="401065">
                <a:tc>
                  <a:txBody>
                    <a:bodyPr wrap="square"/>
                    <a:lstStyle/>
                    <a:p>
                      <a:r>
                        <a:rPr sz="1700" b="0" i="0">
                          <a:solidFill>
                            <a:srgbClr val="17233A"/>
                          </a:solidFill>
                          <a:latin typeface="Calibri"/>
                        </a:rPr>
                        <a:t>T1. Thể chế hóa, tham mưu văn bản</a:t>
                      </a:r>
                    </a:p>
                  </a:txBody>
                  <a:tcPr marL="91440" marR="91440" marT="45720" marB="45720" anchor="ctr">
                    <a:solidFill>
                      <a:srgbClr val="FFFFFF"/>
                    </a:solidFill>
                  </a:tcPr>
                </a:tc>
                <a:tc>
                  <a:txBody>
                    <a:bodyPr wrap="square"/>
                    <a:lstStyle/>
                    <a:p>
                      <a:pPr algn="r"/>
                      <a:r>
                        <a:rPr sz="1700" b="0" i="0">
                          <a:solidFill>
                            <a:srgbClr val="17233A"/>
                          </a:solidFill>
                          <a:latin typeface="Calibri"/>
                        </a:rPr>
                        <a:t>15</a:t>
                      </a:r>
                    </a:p>
                  </a:txBody>
                  <a:tcPr marL="91440" marR="91440" marT="45720" marB="45720" anchor="ctr">
                    <a:solidFill>
                      <a:srgbClr val="FFFFFF"/>
                    </a:solidFill>
                  </a:tcPr>
                </a:tc>
                <a:tc>
                  <a:txBody>
                    <a:bodyPr wrap="square"/>
                    <a:lstStyle/>
                    <a:p>
                      <a:r>
                        <a:rPr sz="1700" b="0" i="0">
                          <a:solidFill>
                            <a:srgbClr val="17233A"/>
                          </a:solidFill>
                          <a:latin typeface="Calibri"/>
                        </a:rPr>
                        <a:t>Việc được giao và minh chứng</a:t>
                      </a:r>
                    </a:p>
                  </a:txBody>
                  <a:tcPr marL="91440" marR="91440" marT="45720" marB="45720" anchor="ctr">
                    <a:solidFill>
                      <a:srgbClr val="FFFFFF"/>
                    </a:solidFill>
                  </a:tcPr>
                </a:tc>
              </a:tr>
              <a:tr h="401065">
                <a:tc>
                  <a:txBody>
                    <a:bodyPr wrap="square"/>
                    <a:lstStyle/>
                    <a:p>
                      <a:r>
                        <a:rPr sz="1700" b="0" i="0">
                          <a:solidFill>
                            <a:srgbClr val="17233A"/>
                          </a:solidFill>
                          <a:latin typeface="Calibri"/>
                        </a:rPr>
                        <a:t>T2. Hoàn thành chương trình, kế hoạch năm</a:t>
                      </a:r>
                    </a:p>
                  </a:txBody>
                  <a:tcPr marL="91440" marR="91440" marT="45720" marB="45720" anchor="ctr">
                    <a:solidFill>
                      <a:srgbClr val="F3F5F8"/>
                    </a:solidFill>
                  </a:tcPr>
                </a:tc>
                <a:tc>
                  <a:txBody>
                    <a:bodyPr wrap="square"/>
                    <a:lstStyle/>
                    <a:p>
                      <a:pPr algn="r"/>
                      <a:r>
                        <a:rPr sz="1700" b="0" i="0">
                          <a:solidFill>
                            <a:srgbClr val="17233A"/>
                          </a:solidFill>
                          <a:latin typeface="Calibri"/>
                        </a:rPr>
                        <a:t>20</a:t>
                      </a:r>
                    </a:p>
                  </a:txBody>
                  <a:tcPr marL="91440" marR="91440" marT="45720" marB="45720" anchor="ctr">
                    <a:solidFill>
                      <a:srgbClr val="F3F5F8"/>
                    </a:solidFill>
                  </a:tcPr>
                </a:tc>
                <a:tc>
                  <a:txBody>
                    <a:bodyPr wrap="square"/>
                    <a:lstStyle/>
                    <a:p>
                      <a:r>
                        <a:rPr sz="1700" b="0" i="0">
                          <a:solidFill>
                            <a:srgbClr val="17233A"/>
                          </a:solidFill>
                          <a:latin typeface="Calibri"/>
                        </a:rPr>
                        <a:t>Tự động từ việc được giao</a:t>
                      </a:r>
                    </a:p>
                  </a:txBody>
                  <a:tcPr marL="91440" marR="91440" marT="45720" marB="45720" anchor="ctr">
                    <a:solidFill>
                      <a:srgbClr val="F3F5F8"/>
                    </a:solidFill>
                  </a:tcPr>
                </a:tc>
              </a:tr>
              <a:tr h="401065">
                <a:tc>
                  <a:txBody>
                    <a:bodyPr wrap="square"/>
                    <a:lstStyle/>
                    <a:p>
                      <a:r>
                        <a:rPr sz="1700" b="0" i="0">
                          <a:solidFill>
                            <a:srgbClr val="17233A"/>
                          </a:solidFill>
                          <a:latin typeface="Calibri"/>
                        </a:rPr>
                        <a:t>T3. Quản lý, điều hành, không sai phạm</a:t>
                      </a:r>
                    </a:p>
                  </a:txBody>
                  <a:tcPr marL="91440" marR="91440" marT="45720" marB="45720" anchor="ctr">
                    <a:solidFill>
                      <a:srgbClr val="FFFFFF"/>
                    </a:solidFill>
                  </a:tcPr>
                </a:tc>
                <a:tc>
                  <a:txBody>
                    <a:bodyPr wrap="square"/>
                    <a:lstStyle/>
                    <a:p>
                      <a:pPr algn="r"/>
                      <a:r>
                        <a:rPr sz="1700" b="0" i="0">
                          <a:solidFill>
                            <a:srgbClr val="17233A"/>
                          </a:solidFill>
                          <a:latin typeface="Calibri"/>
                        </a:rPr>
                        <a:t>10</a:t>
                      </a:r>
                    </a:p>
                  </a:txBody>
                  <a:tcPr marL="91440" marR="91440" marT="45720" marB="45720" anchor="ctr">
                    <a:solidFill>
                      <a:srgbClr val="FFFFFF"/>
                    </a:solidFill>
                  </a:tcPr>
                </a:tc>
                <a:tc>
                  <a:txBody>
                    <a:bodyPr wrap="square"/>
                    <a:lstStyle/>
                    <a:p>
                      <a:r>
                        <a:rPr sz="1700" b="0" i="0">
                          <a:solidFill>
                            <a:srgbClr val="17233A"/>
                          </a:solidFill>
                          <a:latin typeface="Calibri"/>
                        </a:rPr>
                        <a:t>Nhập tay, kèm kết luận kiểm tra</a:t>
                      </a:r>
                    </a:p>
                  </a:txBody>
                  <a:tcPr marL="91440" marR="91440" marT="45720" marB="45720" anchor="ctr">
                    <a:solidFill>
                      <a:srgbClr val="FFFFFF"/>
                    </a:solidFill>
                  </a:tcPr>
                </a:tc>
              </a:tr>
              <a:tr h="401065">
                <a:tc>
                  <a:txBody>
                    <a:bodyPr wrap="square"/>
                    <a:lstStyle/>
                    <a:p>
                      <a:r>
                        <a:rPr sz="1700" b="0" i="0">
                          <a:solidFill>
                            <a:srgbClr val="17233A"/>
                          </a:solidFill>
                          <a:latin typeface="Calibri"/>
                        </a:rPr>
                        <a:t>T4. Phối hợp, điều phối, sáng kiến</a:t>
                      </a:r>
                    </a:p>
                  </a:txBody>
                  <a:tcPr marL="91440" marR="91440" marT="45720" marB="45720" anchor="ctr">
                    <a:solidFill>
                      <a:srgbClr val="F3F5F8"/>
                    </a:solidFill>
                  </a:tcPr>
                </a:tc>
                <a:tc>
                  <a:txBody>
                    <a:bodyPr wrap="square"/>
                    <a:lstStyle/>
                    <a:p>
                      <a:pPr algn="r"/>
                      <a:r>
                        <a:rPr sz="1700" b="0" i="0">
                          <a:solidFill>
                            <a:srgbClr val="17233A"/>
                          </a:solidFill>
                          <a:latin typeface="Calibri"/>
                        </a:rPr>
                        <a:t>10</a:t>
                      </a:r>
                    </a:p>
                  </a:txBody>
                  <a:tcPr marL="91440" marR="91440" marT="45720" marB="45720" anchor="ctr">
                    <a:solidFill>
                      <a:srgbClr val="F3F5F8"/>
                    </a:solidFill>
                  </a:tcPr>
                </a:tc>
                <a:tc>
                  <a:txBody>
                    <a:bodyPr wrap="square"/>
                    <a:lstStyle/>
                    <a:p>
                      <a:r>
                        <a:rPr sz="1700" b="0" i="0">
                          <a:solidFill>
                            <a:srgbClr val="17233A"/>
                          </a:solidFill>
                          <a:latin typeface="Calibri"/>
                        </a:rPr>
                        <a:t>Nhập tay, kèm minh chứng</a:t>
                      </a:r>
                    </a:p>
                  </a:txBody>
                  <a:tcPr marL="91440" marR="91440" marT="45720" marB="45720" anchor="ctr">
                    <a:solidFill>
                      <a:srgbClr val="F3F5F8"/>
                    </a:solidFill>
                  </a:tcPr>
                </a:tc>
              </a:tr>
              <a:tr h="401065">
                <a:tc>
                  <a:txBody>
                    <a:bodyPr wrap="square"/>
                    <a:lstStyle/>
                    <a:p>
                      <a:r>
                        <a:rPr sz="1700" b="0" i="0">
                          <a:solidFill>
                            <a:srgbClr val="17233A"/>
                          </a:solidFill>
                          <a:latin typeface="Calibri"/>
                        </a:rPr>
                        <a:t>T5. Chuyển đổi số, khoa học công nghệ</a:t>
                      </a:r>
                    </a:p>
                  </a:txBody>
                  <a:tcPr marL="91440" marR="91440" marT="45720" marB="45720" anchor="ctr">
                    <a:solidFill>
                      <a:srgbClr val="FFFFFF"/>
                    </a:solidFill>
                  </a:tcPr>
                </a:tc>
                <a:tc>
                  <a:txBody>
                    <a:bodyPr wrap="square"/>
                    <a:lstStyle/>
                    <a:p>
                      <a:pPr algn="r"/>
                      <a:r>
                        <a:rPr sz="1700" b="0" i="0">
                          <a:solidFill>
                            <a:srgbClr val="17233A"/>
                          </a:solidFill>
                          <a:latin typeface="Calibri"/>
                        </a:rPr>
                        <a:t>10</a:t>
                      </a:r>
                    </a:p>
                  </a:txBody>
                  <a:tcPr marL="91440" marR="91440" marT="45720" marB="45720" anchor="ctr">
                    <a:solidFill>
                      <a:srgbClr val="FFFFFF"/>
                    </a:solidFill>
                  </a:tcPr>
                </a:tc>
                <a:tc>
                  <a:txBody>
                    <a:bodyPr wrap="square"/>
                    <a:lstStyle/>
                    <a:p>
                      <a:r>
                        <a:rPr sz="1700" b="0" i="0">
                          <a:solidFill>
                            <a:srgbClr val="17233A"/>
                          </a:solidFill>
                          <a:latin typeface="Calibri"/>
                        </a:rPr>
                        <a:t>Nhập tay, kèm minh chứng</a:t>
                      </a:r>
                    </a:p>
                  </a:txBody>
                  <a:tcPr marL="91440" marR="91440" marT="45720" marB="45720" anchor="ctr">
                    <a:solidFill>
                      <a:srgbClr val="FFFFFF"/>
                    </a:solidFill>
                  </a:tcPr>
                </a:tc>
              </a:tr>
              <a:tr h="401065">
                <a:tc>
                  <a:txBody>
                    <a:bodyPr wrap="square"/>
                    <a:lstStyle/>
                    <a:p>
                      <a:r>
                        <a:rPr sz="1700" b="0" i="0">
                          <a:solidFill>
                            <a:srgbClr val="17233A"/>
                          </a:solidFill>
                          <a:latin typeface="Calibri"/>
                        </a:rPr>
                        <a:t>T6. Giải quyết hồ sơ, đơn thư, kiến nghị</a:t>
                      </a:r>
                    </a:p>
                  </a:txBody>
                  <a:tcPr marL="91440" marR="91440" marT="45720" marB="45720" anchor="ctr">
                    <a:solidFill>
                      <a:srgbClr val="F3F5F8"/>
                    </a:solidFill>
                  </a:tcPr>
                </a:tc>
                <a:tc>
                  <a:txBody>
                    <a:bodyPr wrap="square"/>
                    <a:lstStyle/>
                    <a:p>
                      <a:pPr algn="r"/>
                      <a:r>
                        <a:rPr sz="1700" b="0" i="0">
                          <a:solidFill>
                            <a:srgbClr val="17233A"/>
                          </a:solidFill>
                          <a:latin typeface="Calibri"/>
                        </a:rPr>
                        <a:t>5</a:t>
                      </a:r>
                    </a:p>
                  </a:txBody>
                  <a:tcPr marL="91440" marR="91440" marT="45720" marB="45720" anchor="ctr">
                    <a:solidFill>
                      <a:srgbClr val="F3F5F8"/>
                    </a:solidFill>
                  </a:tcPr>
                </a:tc>
                <a:tc>
                  <a:txBody>
                    <a:bodyPr wrap="square"/>
                    <a:lstStyle/>
                    <a:p>
                      <a:r>
                        <a:rPr sz="1700" b="0" i="0">
                          <a:solidFill>
                            <a:srgbClr val="17233A"/>
                          </a:solidFill>
                          <a:latin typeface="Calibri"/>
                        </a:rPr>
                        <a:t>Nhập tay; không phát sinh thì tối đa</a:t>
                      </a:r>
                    </a:p>
                  </a:txBody>
                  <a:tcPr marL="91440" marR="91440" marT="45720" marB="45720" anchor="ctr">
                    <a:solidFill>
                      <a:srgbClr val="F3F5F8"/>
                    </a:solidFill>
                  </a:tcPr>
                </a:tc>
              </a:tr>
            </a:tbl>
          </a:graphicData>
        </a:graphic>
      </p:graphicFrame>
      <p:sp>
        <p:nvSpPr>
          <p:cNvPr id="7" name="TextBox 6"/>
          <p:cNvSpPr txBox="1"/>
          <p:nvPr/>
        </p:nvSpPr>
        <p:spPr>
          <a:xfrm>
            <a:off x="548640" y="4617974"/>
            <a:ext cx="11094415" cy="82296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Tiêu chí chung 30 điểm chia ba nhóm 10 + 10 + 10. Phần phân bổ là </a:t>
            </a:r>
            <a:r>
              <a:rPr sz="1700" b="1" i="0">
                <a:solidFill>
                  <a:srgbClr val="3B4658"/>
                </a:solidFill>
                <a:latin typeface="Calibri"/>
              </a:rPr>
              <a:t>đề xuất</a:t>
            </a:r>
            <a:r>
              <a:rPr sz="1700" b="0" i="0">
                <a:solidFill>
                  <a:srgbClr val="3B4658"/>
                </a:solidFill>
                <a:latin typeface="Calibri"/>
              </a:rPr>
              <a:t>, vì Phụ lục của 39-QĐ/TU không có trong bộ tài liệu. Phần mềm cho người thẩm định chấm từng trục, Văn phòng đổi được cấu hình; trục T2 có gợi ý tự động từ số liệu việc được giao.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XẾP LOẠI VÀ ĐIỀU KIỆN</a:t>
            </a:r>
          </a:p>
        </p:txBody>
      </p:sp>
      <p:sp>
        <p:nvSpPr>
          <p:cNvPr id="3" name="Tiêu đề"/>
          <p:cNvSpPr txBox="1"/>
          <p:nvPr/>
        </p:nvSpPr>
        <p:spPr>
          <a:xfrm>
            <a:off x="548640" y="713232"/>
            <a:ext cx="11094415" cy="10972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Điểm quyết định mức, điều kiện kèm theo để kiểm tra</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335/2025/NĐ-CP Điều 8, 20 · 39-QĐ/TU Điều 11</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10</a:t>
            </a:r>
          </a:p>
        </p:txBody>
      </p:sp>
      <p:graphicFrame>
        <p:nvGraphicFramePr>
          <p:cNvPr id="6" name="Bảng"/>
          <p:cNvGraphicFramePr>
            <a:graphicFrameLocks noGrp="1"/>
          </p:cNvGraphicFramePr>
          <p:nvPr/>
        </p:nvGraphicFramePr>
        <p:xfrm>
          <a:off x="548640" y="2084831"/>
          <a:ext cx="11094414" cy="2260088"/>
        </p:xfrm>
        <a:graphic>
          <a:graphicData uri="http://schemas.openxmlformats.org/drawingml/2006/table">
            <a:tbl>
              <a:tblPr firstRow="1" bandRow="1">
                <a:tableStyleId>{5C22544A-7EE6-4342-B048-85BDC9FD1C3A}</a:tableStyleId>
              </a:tblPr>
              <a:tblGrid>
                <a:gridCol w="2200545"/>
                <a:gridCol w="1833787"/>
                <a:gridCol w="7060082"/>
              </a:tblGrid>
              <a:tr h="401065">
                <a:tc>
                  <a:txBody>
                    <a:bodyPr wrap="square"/>
                    <a:lstStyle/>
                    <a:p>
                      <a:r>
                        <a:rPr sz="1700" b="1" i="0">
                          <a:solidFill>
                            <a:srgbClr val="FFFFFF"/>
                          </a:solidFill>
                          <a:latin typeface="Calibri"/>
                        </a:rPr>
                        <a:t>Mức</a:t>
                      </a:r>
                    </a:p>
                  </a:txBody>
                  <a:tcPr marL="91440" marR="91440" marT="45720" marB="45720" anchor="ctr">
                    <a:solidFill>
                      <a:srgbClr val="17233A"/>
                    </a:solidFill>
                  </a:tcPr>
                </a:tc>
                <a:tc>
                  <a:txBody>
                    <a:bodyPr wrap="square"/>
                    <a:lstStyle/>
                    <a:p>
                      <a:r>
                        <a:rPr sz="1700" b="1" i="0">
                          <a:solidFill>
                            <a:srgbClr val="FFFFFF"/>
                          </a:solidFill>
                          <a:latin typeface="Calibri"/>
                        </a:rPr>
                        <a:t>Điểm</a:t>
                      </a:r>
                    </a:p>
                  </a:txBody>
                  <a:tcPr marL="91440" marR="91440" marT="45720" marB="45720" anchor="ctr">
                    <a:solidFill>
                      <a:srgbClr val="17233A"/>
                    </a:solidFill>
                  </a:tcPr>
                </a:tc>
                <a:tc>
                  <a:txBody>
                    <a:bodyPr wrap="square"/>
                    <a:lstStyle/>
                    <a:p>
                      <a:r>
                        <a:rPr sz="1700" b="1" i="0">
                          <a:solidFill>
                            <a:srgbClr val="FFFFFF"/>
                          </a:solidFill>
                          <a:latin typeface="Calibri"/>
                        </a:rPr>
                        <a:t>Điều kiện kèm theo (tập thể)</a:t>
                      </a:r>
                    </a:p>
                  </a:txBody>
                  <a:tcPr marL="91440" marR="91440" marT="45720" marB="45720" anchor="ctr">
                    <a:solidFill>
                      <a:srgbClr val="17233A"/>
                    </a:solidFill>
                  </a:tcPr>
                </a:tc>
              </a:tr>
              <a:tr h="655828">
                <a:tc>
                  <a:txBody>
                    <a:bodyPr wrap="square"/>
                    <a:lstStyle/>
                    <a:p>
                      <a:r>
                        <a:rPr sz="1700" b="1" i="0">
                          <a:solidFill>
                            <a:srgbClr val="17233A"/>
                          </a:solidFill>
                          <a:latin typeface="Calibri"/>
                        </a:rPr>
                        <a:t>Xuất sắc</a:t>
                      </a:r>
                    </a:p>
                  </a:txBody>
                  <a:tcPr marL="91440" marR="91440" marT="45720" marB="45720" anchor="ctr">
                    <a:solidFill>
                      <a:srgbClr val="FFFFFF"/>
                    </a:solidFill>
                  </a:tcPr>
                </a:tc>
                <a:tc>
                  <a:txBody>
                    <a:bodyPr wrap="square"/>
                    <a:lstStyle/>
                    <a:p>
                      <a:r>
                        <a:rPr sz="1700" b="0" i="0">
                          <a:solidFill>
                            <a:srgbClr val="17233A"/>
                          </a:solidFill>
                          <a:latin typeface="Calibri"/>
                        </a:rPr>
                        <a:t>Từ 90</a:t>
                      </a:r>
                    </a:p>
                  </a:txBody>
                  <a:tcPr marL="91440" marR="91440" marT="45720" marB="45720" anchor="ctr">
                    <a:solidFill>
                      <a:srgbClr val="FFFFFF"/>
                    </a:solidFill>
                  </a:tcPr>
                </a:tc>
                <a:tc>
                  <a:txBody>
                    <a:bodyPr wrap="square"/>
                    <a:lstStyle/>
                    <a:p>
                      <a:r>
                        <a:rPr sz="1700" b="0" i="0">
                          <a:solidFill>
                            <a:srgbClr val="17233A"/>
                          </a:solidFill>
                          <a:latin typeface="Calibri"/>
                        </a:rPr>
                        <a:t>100% đúng hạn; ít nhất 30% vượt mức; không có đơn vị cấp dưới không hoàn thành</a:t>
                      </a:r>
                    </a:p>
                  </a:txBody>
                  <a:tcPr marL="91440" marR="91440" marT="45720" marB="45720" anchor="ctr">
                    <a:solidFill>
                      <a:srgbClr val="FFFFFF"/>
                    </a:solidFill>
                  </a:tcPr>
                </a:tc>
              </a:tr>
              <a:tr h="401065">
                <a:tc>
                  <a:txBody>
                    <a:bodyPr wrap="square"/>
                    <a:lstStyle/>
                    <a:p>
                      <a:r>
                        <a:rPr sz="1700" b="1" i="0">
                          <a:solidFill>
                            <a:srgbClr val="17233A"/>
                          </a:solidFill>
                          <a:latin typeface="Calibri"/>
                        </a:rPr>
                        <a:t>Tốt</a:t>
                      </a:r>
                    </a:p>
                  </a:txBody>
                  <a:tcPr marL="91440" marR="91440" marT="45720" marB="45720" anchor="ctr">
                    <a:solidFill>
                      <a:srgbClr val="F3F5F8"/>
                    </a:solidFill>
                  </a:tcPr>
                </a:tc>
                <a:tc>
                  <a:txBody>
                    <a:bodyPr wrap="square"/>
                    <a:lstStyle/>
                    <a:p>
                      <a:r>
                        <a:rPr sz="1700" b="0" i="0">
                          <a:solidFill>
                            <a:srgbClr val="17233A"/>
                          </a:solidFill>
                          <a:latin typeface="Calibri"/>
                        </a:rPr>
                        <a:t>70 đến dưới 90</a:t>
                      </a:r>
                    </a:p>
                  </a:txBody>
                  <a:tcPr marL="91440" marR="91440" marT="45720" marB="45720" anchor="ctr">
                    <a:solidFill>
                      <a:srgbClr val="F3F5F8"/>
                    </a:solidFill>
                  </a:tcPr>
                </a:tc>
                <a:tc>
                  <a:txBody>
                    <a:bodyPr wrap="square"/>
                    <a:lstStyle/>
                    <a:p>
                      <a:r>
                        <a:rPr sz="1700" b="0" i="0">
                          <a:solidFill>
                            <a:srgbClr val="17233A"/>
                          </a:solidFill>
                          <a:latin typeface="Calibri"/>
                        </a:rPr>
                        <a:t>100% nhiệm vụ đúng hạn, bảo đảm chất lượng</a:t>
                      </a:r>
                    </a:p>
                  </a:txBody>
                  <a:tcPr marL="91440" marR="91440" marT="45720" marB="45720" anchor="ctr">
                    <a:solidFill>
                      <a:srgbClr val="F3F5F8"/>
                    </a:solidFill>
                  </a:tcPr>
                </a:tc>
              </a:tr>
              <a:tr h="401065">
                <a:tc>
                  <a:txBody>
                    <a:bodyPr wrap="square"/>
                    <a:lstStyle/>
                    <a:p>
                      <a:r>
                        <a:rPr sz="1700" b="1" i="0">
                          <a:solidFill>
                            <a:srgbClr val="17233A"/>
                          </a:solidFill>
                          <a:latin typeface="Calibri"/>
                        </a:rPr>
                        <a:t>Hoàn thành</a:t>
                      </a:r>
                    </a:p>
                  </a:txBody>
                  <a:tcPr marL="91440" marR="91440" marT="45720" marB="45720" anchor="ctr">
                    <a:solidFill>
                      <a:srgbClr val="FFFFFF"/>
                    </a:solidFill>
                  </a:tcPr>
                </a:tc>
                <a:tc>
                  <a:txBody>
                    <a:bodyPr wrap="square"/>
                    <a:lstStyle/>
                    <a:p>
                      <a:r>
                        <a:rPr sz="1700" b="0" i="0">
                          <a:solidFill>
                            <a:srgbClr val="17233A"/>
                          </a:solidFill>
                          <a:latin typeface="Calibri"/>
                        </a:rPr>
                        <a:t>50 đến dưới 70</a:t>
                      </a:r>
                    </a:p>
                  </a:txBody>
                  <a:tcPr marL="91440" marR="91440" marT="45720" marB="45720" anchor="ctr">
                    <a:solidFill>
                      <a:srgbClr val="FFFFFF"/>
                    </a:solidFill>
                  </a:tcPr>
                </a:tc>
                <a:tc>
                  <a:txBody>
                    <a:bodyPr wrap="square"/>
                    <a:lstStyle/>
                    <a:p>
                      <a:r>
                        <a:rPr sz="1700" b="0" i="0">
                          <a:solidFill>
                            <a:srgbClr val="17233A"/>
                          </a:solidFill>
                          <a:latin typeface="Calibri"/>
                        </a:rPr>
                        <a:t>100% nhiệm vụ; chậm tiến độ không quá 20%</a:t>
                      </a:r>
                    </a:p>
                  </a:txBody>
                  <a:tcPr marL="91440" marR="91440" marT="45720" marB="45720" anchor="ctr">
                    <a:solidFill>
                      <a:srgbClr val="FFFFFF"/>
                    </a:solidFill>
                  </a:tcPr>
                </a:tc>
              </a:tr>
              <a:tr h="401065">
                <a:tc>
                  <a:txBody>
                    <a:bodyPr wrap="square"/>
                    <a:lstStyle/>
                    <a:p>
                      <a:r>
                        <a:rPr sz="1700" b="1" i="0">
                          <a:solidFill>
                            <a:srgbClr val="17233A"/>
                          </a:solidFill>
                          <a:latin typeface="Calibri"/>
                        </a:rPr>
                        <a:t>Không hoàn thành</a:t>
                      </a:r>
                    </a:p>
                  </a:txBody>
                  <a:tcPr marL="91440" marR="91440" marT="45720" marB="45720" anchor="ctr">
                    <a:solidFill>
                      <a:srgbClr val="F3F5F8"/>
                    </a:solidFill>
                  </a:tcPr>
                </a:tc>
                <a:tc>
                  <a:txBody>
                    <a:bodyPr wrap="square"/>
                    <a:lstStyle/>
                    <a:p>
                      <a:r>
                        <a:rPr sz="1700" b="0" i="0">
                          <a:solidFill>
                            <a:srgbClr val="17233A"/>
                          </a:solidFill>
                          <a:latin typeface="Calibri"/>
                        </a:rPr>
                        <a:t>Dưới 50</a:t>
                      </a:r>
                    </a:p>
                  </a:txBody>
                  <a:tcPr marL="91440" marR="91440" marT="45720" marB="45720" anchor="ctr">
                    <a:solidFill>
                      <a:srgbClr val="F3F5F8"/>
                    </a:solidFill>
                  </a:tcPr>
                </a:tc>
                <a:tc>
                  <a:txBody>
                    <a:bodyPr wrap="square"/>
                    <a:lstStyle/>
                    <a:p>
                      <a:r>
                        <a:rPr sz="1700" b="0" i="0">
                          <a:solidFill>
                            <a:srgbClr val="17233A"/>
                          </a:solidFill>
                          <a:latin typeface="Calibri"/>
                        </a:rPr>
                        <a:t>Hoặc sai phạm công tác cán bộ; hoàn thành dưới 70% nhiệm vụ</a:t>
                      </a:r>
                    </a:p>
                  </a:txBody>
                  <a:tcPr marL="91440" marR="91440" marT="45720" marB="45720" anchor="ctr">
                    <a:solidFill>
                      <a:srgbClr val="F3F5F8"/>
                    </a:solidFill>
                  </a:tcPr>
                </a:tc>
              </a:tr>
            </a:tbl>
          </a:graphicData>
        </a:graphic>
      </p:graphicFrame>
      <p:sp>
        <p:nvSpPr>
          <p:cNvPr id="7" name="Thẻ"/>
          <p:cNvSpPr/>
          <p:nvPr/>
        </p:nvSpPr>
        <p:spPr>
          <a:xfrm>
            <a:off x="548640" y="4619244"/>
            <a:ext cx="5364327" cy="17830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847844"/>
            <a:ext cx="4907127"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Hạn mức xuất sắc</a:t>
            </a:r>
          </a:p>
        </p:txBody>
      </p:sp>
      <p:sp>
        <p:nvSpPr>
          <p:cNvPr id="9" name="Nội dung thẻ"/>
          <p:cNvSpPr txBox="1"/>
          <p:nvPr/>
        </p:nvSpPr>
        <p:spPr>
          <a:xfrm>
            <a:off x="777240" y="5239004"/>
            <a:ext cx="4907127" cy="980440"/>
          </a:xfrm>
          <a:prstGeom prst="rect">
            <a:avLst/>
          </a:prstGeom>
          <a:noFill/>
        </p:spPr>
        <p:txBody>
          <a:bodyPr wrap="square" anchor="t" lIns="0" rIns="0" tIns="0" bIns="0">
            <a:spAutoFit/>
          </a:bodyPr>
          <a:lstStyle/>
          <a:p>
            <a:pPr algn="l">
              <a:spcAft>
                <a:spcPts val="600"/>
              </a:spcAft>
            </a:pPr>
            <a:r>
              <a:rPr sz="1700" b="0" i="0">
                <a:solidFill>
                  <a:srgbClr val="3B4658"/>
                </a:solidFill>
                <a:latin typeface="Calibri"/>
              </a:rPr>
              <a:t>Không quá 20% số hoàn thành tốt, tối đa 25% với đơn vị nổi trội. Mức của người đứng đầu không cao hơn mức của tổ chức.</a:t>
            </a:r>
          </a:p>
        </p:txBody>
      </p:sp>
      <p:sp>
        <p:nvSpPr>
          <p:cNvPr id="10" name="Thẻ"/>
          <p:cNvSpPr/>
          <p:nvPr/>
        </p:nvSpPr>
        <p:spPr>
          <a:xfrm>
            <a:off x="6278727" y="4619244"/>
            <a:ext cx="5364327" cy="17830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7327" y="4847844"/>
            <a:ext cx="4907127"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Hạn mức cảnh báo, điều kiện tự xếp</a:t>
            </a:r>
          </a:p>
        </p:txBody>
      </p:sp>
      <p:sp>
        <p:nvSpPr>
          <p:cNvPr id="12" name="Nội dung thẻ"/>
          <p:cNvSpPr txBox="1"/>
          <p:nvPr/>
        </p:nvSpPr>
        <p:spPr>
          <a:xfrm>
            <a:off x="6507327" y="5239004"/>
            <a:ext cx="4907127" cy="980440"/>
          </a:xfrm>
          <a:prstGeom prst="rect">
            <a:avLst/>
          </a:prstGeom>
          <a:noFill/>
        </p:spPr>
        <p:txBody>
          <a:bodyPr wrap="square" anchor="t" lIns="0" rIns="0" tIns="0" bIns="0">
            <a:spAutoFit/>
          </a:bodyPr>
          <a:lstStyle/>
          <a:p>
            <a:pPr algn="l">
              <a:spcAft>
                <a:spcPts val="600"/>
              </a:spcAft>
            </a:pPr>
            <a:r>
              <a:rPr sz="1700" b="0" i="0">
                <a:solidFill>
                  <a:srgbClr val="3B4658"/>
                </a:solidFill>
                <a:latin typeface="Calibri"/>
              </a:rPr>
              <a:t>Hạn mức xuất sắc gợi ý theo điểm. Kỷ luật, suy thoái: tự xếp Không hoàn thành.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ĐỐI CHIẾU OKR</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KPI quyết định điểm, OKR để định hướng và theo dõi</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Phần mềm: trang OKR theo dõi đã cài · Đề xuất, chờ xác nhận</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11</a:t>
            </a:r>
          </a:p>
        </p:txBody>
      </p:sp>
      <p:sp>
        <p:nvSpPr>
          <p:cNvPr id="6" name="Thẻ"/>
          <p:cNvSpPr/>
          <p:nvPr/>
        </p:nvSpPr>
        <p:spPr>
          <a:xfrm>
            <a:off x="548640" y="1627632"/>
            <a:ext cx="3515258" cy="24231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3058058"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MỤC TIÊU (O)</a:t>
            </a:r>
          </a:p>
        </p:txBody>
      </p:sp>
      <p:sp>
        <p:nvSpPr>
          <p:cNvPr id="8" name="TextBox 7"/>
          <p:cNvSpPr txBox="1"/>
          <p:nvPr/>
        </p:nvSpPr>
        <p:spPr>
          <a:xfrm>
            <a:off x="777240" y="2148840"/>
            <a:ext cx="3058058"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Nhiệm vụ</a:t>
            </a:r>
          </a:p>
        </p:txBody>
      </p:sp>
      <p:sp>
        <p:nvSpPr>
          <p:cNvPr id="9" name="Nội dung thẻ"/>
          <p:cNvSpPr txBox="1"/>
          <p:nvPr/>
        </p:nvSpPr>
        <p:spPr>
          <a:xfrm>
            <a:off x="777240" y="2569972"/>
            <a:ext cx="3058058" cy="1297939"/>
          </a:xfrm>
          <a:prstGeom prst="rect">
            <a:avLst/>
          </a:prstGeom>
          <a:noFill/>
        </p:spPr>
        <p:txBody>
          <a:bodyPr wrap="square" anchor="t" lIns="0" rIns="0" tIns="0" bIns="0">
            <a:spAutoFit/>
          </a:bodyPr>
          <a:lstStyle/>
          <a:p>
            <a:pPr algn="l">
              <a:spcAft>
                <a:spcPts val="600"/>
              </a:spcAft>
            </a:pPr>
            <a:r>
              <a:rPr sz="1700" b="0" i="0">
                <a:solidFill>
                  <a:srgbClr val="3B4658"/>
                </a:solidFill>
                <a:latin typeface="Calibri"/>
              </a:rPr>
              <a:t>Cấp trên đặt cho từng cán bộ; nhiệm vụ chứa các việc lấy từ danh mục.</a:t>
            </a:r>
          </a:p>
        </p:txBody>
      </p:sp>
      <p:sp>
        <p:nvSpPr>
          <p:cNvPr id="10" name="Thẻ"/>
          <p:cNvSpPr/>
          <p:nvPr/>
        </p:nvSpPr>
        <p:spPr>
          <a:xfrm>
            <a:off x="4338218" y="1627632"/>
            <a:ext cx="3515258" cy="24231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1856232"/>
            <a:ext cx="3058058"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KẾT QUẢ THEN CHỐT (KR)</a:t>
            </a:r>
          </a:p>
        </p:txBody>
      </p:sp>
      <p:sp>
        <p:nvSpPr>
          <p:cNvPr id="12" name="TextBox 11"/>
          <p:cNvSpPr txBox="1"/>
          <p:nvPr/>
        </p:nvSpPr>
        <p:spPr>
          <a:xfrm>
            <a:off x="4566818" y="2148840"/>
            <a:ext cx="3058058"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Việc được giao</a:t>
            </a:r>
          </a:p>
        </p:txBody>
      </p:sp>
      <p:sp>
        <p:nvSpPr>
          <p:cNvPr id="13" name="Nội dung thẻ"/>
          <p:cNvSpPr txBox="1"/>
          <p:nvPr/>
        </p:nvSpPr>
        <p:spPr>
          <a:xfrm>
            <a:off x="4566818" y="2569972"/>
            <a:ext cx="3058058" cy="1297939"/>
          </a:xfrm>
          <a:prstGeom prst="rect">
            <a:avLst/>
          </a:prstGeom>
          <a:noFill/>
        </p:spPr>
        <p:txBody>
          <a:bodyPr wrap="square" anchor="t" lIns="0" rIns="0" tIns="0" bIns="0">
            <a:spAutoFit/>
          </a:bodyPr>
          <a:lstStyle/>
          <a:p>
            <a:pPr algn="l">
              <a:spcAft>
                <a:spcPts val="600"/>
              </a:spcAft>
            </a:pPr>
            <a:r>
              <a:rPr sz="1700" b="0" i="0">
                <a:solidFill>
                  <a:srgbClr val="3B4658"/>
                </a:solidFill>
                <a:latin typeface="Calibri"/>
              </a:rPr>
              <a:t>Có số lượng, hạn, báo cáo, xác nhận. Mỗi việc gắn được với một KR trong OKR của người nhận.</a:t>
            </a:r>
          </a:p>
        </p:txBody>
      </p:sp>
      <p:sp>
        <p:nvSpPr>
          <p:cNvPr id="14" name="Thẻ"/>
          <p:cNvSpPr/>
          <p:nvPr/>
        </p:nvSpPr>
        <p:spPr>
          <a:xfrm>
            <a:off x="8127796" y="1627632"/>
            <a:ext cx="3515258" cy="24231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56232"/>
            <a:ext cx="3058058"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THEO DÕI TIẾN ĐỘ</a:t>
            </a:r>
          </a:p>
        </p:txBody>
      </p:sp>
      <p:sp>
        <p:nvSpPr>
          <p:cNvPr id="16" name="TextBox 15"/>
          <p:cNvSpPr txBox="1"/>
          <p:nvPr/>
        </p:nvSpPr>
        <p:spPr>
          <a:xfrm>
            <a:off x="8356396" y="2148840"/>
            <a:ext cx="3058058"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Trang OKR theo dõi</a:t>
            </a:r>
          </a:p>
        </p:txBody>
      </p:sp>
      <p:sp>
        <p:nvSpPr>
          <p:cNvPr id="17" name="Nội dung thẻ"/>
          <p:cNvSpPr txBox="1"/>
          <p:nvPr/>
        </p:nvSpPr>
        <p:spPr>
          <a:xfrm>
            <a:off x="8356396" y="2569972"/>
            <a:ext cx="3058058" cy="1297939"/>
          </a:xfrm>
          <a:prstGeom prst="rect">
            <a:avLst/>
          </a:prstGeom>
          <a:noFill/>
        </p:spPr>
        <p:txBody>
          <a:bodyPr wrap="square" anchor="t" lIns="0" rIns="0" tIns="0" bIns="0">
            <a:spAutoFit/>
          </a:bodyPr>
          <a:lstStyle/>
          <a:p>
            <a:pPr algn="l">
              <a:spcAft>
                <a:spcPts val="600"/>
              </a:spcAft>
            </a:pPr>
            <a:r>
              <a:rPr sz="1700" b="0" i="0">
                <a:solidFill>
                  <a:srgbClr val="3B4658"/>
                </a:solidFill>
                <a:latin typeface="Calibri"/>
              </a:rPr>
              <a:t>Gom số việc hoàn thành, chậm, chưa đạt theo từng KR. Không tính điểm.</a:t>
            </a:r>
          </a:p>
        </p:txBody>
      </p:sp>
      <p:sp>
        <p:nvSpPr>
          <p:cNvPr id="18" name="Khung nhấn"/>
          <p:cNvSpPr/>
          <p:nvPr/>
        </p:nvSpPr>
        <p:spPr>
          <a:xfrm>
            <a:off x="548640" y="4325112"/>
            <a:ext cx="11094415" cy="1691640"/>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489704"/>
            <a:ext cx="10545775" cy="320040"/>
          </a:xfrm>
          <a:prstGeom prst="rect">
            <a:avLst/>
          </a:prstGeom>
          <a:noFill/>
        </p:spPr>
        <p:txBody>
          <a:bodyPr wrap="square" anchor="t" lIns="0" rIns="0" tIns="0" bIns="0">
            <a:spAutoFit/>
          </a:bodyPr>
          <a:lstStyle/>
          <a:p>
            <a:pPr algn="l">
              <a:spcAft>
                <a:spcPts val="0"/>
              </a:spcAft>
            </a:pPr>
            <a:r>
              <a:rPr sz="1800" b="1" i="0">
                <a:solidFill>
                  <a:srgbClr val="E3B04B"/>
                </a:solidFill>
                <a:latin typeface="Calibri"/>
              </a:rPr>
              <a:t>Vì sao chưa chấm điểm theo OKR</a:t>
            </a:r>
          </a:p>
        </p:txBody>
      </p:sp>
      <p:sp>
        <p:nvSpPr>
          <p:cNvPr id="20" name="TextBox 19"/>
          <p:cNvSpPr txBox="1"/>
          <p:nvPr/>
        </p:nvSpPr>
        <p:spPr>
          <a:xfrm>
            <a:off x="822959" y="4892040"/>
            <a:ext cx="10545775" cy="1005840"/>
          </a:xfrm>
          <a:prstGeom prst="rect">
            <a:avLst/>
          </a:prstGeom>
          <a:noFill/>
        </p:spPr>
        <p:txBody>
          <a:bodyPr wrap="square" anchor="t" lIns="0" rIns="0" tIns="0" bIns="0">
            <a:spAutoFit/>
          </a:bodyPr>
          <a:lstStyle/>
          <a:p>
            <a:pPr algn="l">
              <a:spcAft>
                <a:spcPts val="0"/>
              </a:spcAft>
            </a:pPr>
            <a:r>
              <a:rPr sz="1500" b="0" i="0">
                <a:solidFill>
                  <a:srgbClr val="DCE4EE"/>
                </a:solidFill>
                <a:latin typeface="Calibri"/>
              </a:rPr>
              <a:t>Không văn bản nào trong bộ tài liệu dùng OKR làm căn cứ chấm, cũng không nêu mức đạt hay tỷ trọng. Cột OKR trong tệp phân công có năm cách viết khác nhau. Muốn chấm theo OKR cần văn bản quy định mức đạt và tỷ trọng.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QUY TRÌNH</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Bốn bước, cấp dưới trước cấp trên</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39-QĐ/TU Điều 12, 19.3 · Nghị định 335/2025/NĐ-CP Điều 9.2, 17.2 · 05-HD/TU</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12</a:t>
            </a:r>
          </a:p>
        </p:txBody>
      </p:sp>
      <p:sp>
        <p:nvSpPr>
          <p:cNvPr id="6" name="Rounded Rectangle 5"/>
          <p:cNvSpPr/>
          <p:nvPr/>
        </p:nvSpPr>
        <p:spPr>
          <a:xfrm>
            <a:off x="548640" y="1627632"/>
            <a:ext cx="2636443" cy="25603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731520" cy="640080"/>
          </a:xfrm>
          <a:prstGeom prst="rect">
            <a:avLst/>
          </a:prstGeom>
          <a:noFill/>
        </p:spPr>
        <p:txBody>
          <a:bodyPr wrap="square" anchor="t" lIns="0" rIns="0" tIns="0" bIns="0">
            <a:spAutoFit/>
          </a:bodyPr>
          <a:lstStyle/>
          <a:p>
            <a:pPr algn="l">
              <a:spcAft>
                <a:spcPts val="0"/>
              </a:spcAft>
            </a:pPr>
            <a:r>
              <a:rPr sz="3600" b="1" i="0">
                <a:solidFill>
                  <a:srgbClr val="A4262C"/>
                </a:solidFill>
                <a:latin typeface="Cambria"/>
              </a:rPr>
              <a:t>1</a:t>
            </a:r>
          </a:p>
        </p:txBody>
      </p:sp>
      <p:sp>
        <p:nvSpPr>
          <p:cNvPr id="8" name="TextBox 7"/>
          <p:cNvSpPr txBox="1"/>
          <p:nvPr/>
        </p:nvSpPr>
        <p:spPr>
          <a:xfrm>
            <a:off x="731520" y="2404872"/>
            <a:ext cx="2270683" cy="36576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Tự đánh giá</a:t>
            </a:r>
          </a:p>
        </p:txBody>
      </p:sp>
      <p:sp>
        <p:nvSpPr>
          <p:cNvPr id="9" name="TextBox 8"/>
          <p:cNvSpPr txBox="1"/>
          <p:nvPr/>
        </p:nvSpPr>
        <p:spPr>
          <a:xfrm>
            <a:off x="731520" y="2816352"/>
            <a:ext cx="2270683" cy="128016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Cá nhân, hoặc người đứng đầu thay mặt tập thể, tự chấm và đề xuất mức.</a:t>
            </a:r>
          </a:p>
        </p:txBody>
      </p:sp>
      <p:sp>
        <p:nvSpPr>
          <p:cNvPr id="10" name="Rounded Rectangle 9"/>
          <p:cNvSpPr/>
          <p:nvPr/>
        </p:nvSpPr>
        <p:spPr>
          <a:xfrm>
            <a:off x="3367963" y="1627632"/>
            <a:ext cx="2636443" cy="25603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0843" y="1737360"/>
            <a:ext cx="731520" cy="640080"/>
          </a:xfrm>
          <a:prstGeom prst="rect">
            <a:avLst/>
          </a:prstGeom>
          <a:noFill/>
        </p:spPr>
        <p:txBody>
          <a:bodyPr wrap="square" anchor="t" lIns="0" rIns="0" tIns="0" bIns="0">
            <a:spAutoFit/>
          </a:bodyPr>
          <a:lstStyle/>
          <a:p>
            <a:pPr algn="l">
              <a:spcAft>
                <a:spcPts val="0"/>
              </a:spcAft>
            </a:pPr>
            <a:r>
              <a:rPr sz="3600" b="1" i="0">
                <a:solidFill>
                  <a:srgbClr val="A4262C"/>
                </a:solidFill>
                <a:latin typeface="Cambria"/>
              </a:rPr>
              <a:t>2</a:t>
            </a:r>
          </a:p>
        </p:txBody>
      </p:sp>
      <p:sp>
        <p:nvSpPr>
          <p:cNvPr id="12" name="TextBox 11"/>
          <p:cNvSpPr txBox="1"/>
          <p:nvPr/>
        </p:nvSpPr>
        <p:spPr>
          <a:xfrm>
            <a:off x="3550843" y="2404872"/>
            <a:ext cx="2270683" cy="36576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Thẩm định</a:t>
            </a:r>
          </a:p>
        </p:txBody>
      </p:sp>
      <p:sp>
        <p:nvSpPr>
          <p:cNvPr id="13" name="TextBox 12"/>
          <p:cNvSpPr txBox="1"/>
          <p:nvPr/>
        </p:nvSpPr>
        <p:spPr>
          <a:xfrm>
            <a:off x="3550843" y="2816352"/>
            <a:ext cx="2270683" cy="128016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Cơ quan tham mưu về tổ chức cán bộ hoặc người được phân công chấm và đề xuất xếp loại.</a:t>
            </a:r>
          </a:p>
        </p:txBody>
      </p:sp>
      <p:sp>
        <p:nvSpPr>
          <p:cNvPr id="14" name="Rounded Rectangle 13"/>
          <p:cNvSpPr/>
          <p:nvPr/>
        </p:nvSpPr>
        <p:spPr>
          <a:xfrm>
            <a:off x="6187287" y="1627632"/>
            <a:ext cx="2636443" cy="25603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1737360"/>
            <a:ext cx="731520" cy="640080"/>
          </a:xfrm>
          <a:prstGeom prst="rect">
            <a:avLst/>
          </a:prstGeom>
          <a:noFill/>
        </p:spPr>
        <p:txBody>
          <a:bodyPr wrap="square" anchor="t" lIns="0" rIns="0" tIns="0" bIns="0">
            <a:spAutoFit/>
          </a:bodyPr>
          <a:lstStyle/>
          <a:p>
            <a:pPr algn="l">
              <a:spcAft>
                <a:spcPts val="0"/>
              </a:spcAft>
            </a:pPr>
            <a:r>
              <a:rPr sz="3600" b="1" i="0">
                <a:solidFill>
                  <a:srgbClr val="A4262C"/>
                </a:solidFill>
                <a:latin typeface="Cambria"/>
              </a:rPr>
              <a:t>3</a:t>
            </a:r>
          </a:p>
        </p:txBody>
      </p:sp>
      <p:sp>
        <p:nvSpPr>
          <p:cNvPr id="16" name="TextBox 15"/>
          <p:cNvSpPr txBox="1"/>
          <p:nvPr/>
        </p:nvSpPr>
        <p:spPr>
          <a:xfrm>
            <a:off x="6370167" y="2404872"/>
            <a:ext cx="2270683" cy="36576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Quyết định</a:t>
            </a:r>
          </a:p>
        </p:txBody>
      </p:sp>
      <p:sp>
        <p:nvSpPr>
          <p:cNvPr id="17" name="TextBox 16"/>
          <p:cNvSpPr txBox="1"/>
          <p:nvPr/>
        </p:nvSpPr>
        <p:spPr>
          <a:xfrm>
            <a:off x="6370167" y="2816352"/>
            <a:ext cx="2270683" cy="128016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Cấp có thẩm quyền công nhận. Có đơn thư, phản ánh thì xác minh trước.</a:t>
            </a:r>
          </a:p>
        </p:txBody>
      </p:sp>
      <p:sp>
        <p:nvSpPr>
          <p:cNvPr id="18" name="Rounded Rectangle 17"/>
          <p:cNvSpPr/>
          <p:nvPr/>
        </p:nvSpPr>
        <p:spPr>
          <a:xfrm>
            <a:off x="9006611" y="1627632"/>
            <a:ext cx="2636443" cy="25603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491" y="1737360"/>
            <a:ext cx="731520" cy="640080"/>
          </a:xfrm>
          <a:prstGeom prst="rect">
            <a:avLst/>
          </a:prstGeom>
          <a:noFill/>
        </p:spPr>
        <p:txBody>
          <a:bodyPr wrap="square" anchor="t" lIns="0" rIns="0" tIns="0" bIns="0">
            <a:spAutoFit/>
          </a:bodyPr>
          <a:lstStyle/>
          <a:p>
            <a:pPr algn="l">
              <a:spcAft>
                <a:spcPts val="0"/>
              </a:spcAft>
            </a:pPr>
            <a:r>
              <a:rPr sz="3600" b="1" i="0">
                <a:solidFill>
                  <a:srgbClr val="A4262C"/>
                </a:solidFill>
                <a:latin typeface="Cambria"/>
              </a:rPr>
              <a:t>4</a:t>
            </a:r>
          </a:p>
        </p:txBody>
      </p:sp>
      <p:sp>
        <p:nvSpPr>
          <p:cNvPr id="20" name="TextBox 19"/>
          <p:cNvSpPr txBox="1"/>
          <p:nvPr/>
        </p:nvSpPr>
        <p:spPr>
          <a:xfrm>
            <a:off x="9189491" y="2404872"/>
            <a:ext cx="2270683" cy="365760"/>
          </a:xfrm>
          <a:prstGeom prst="rect">
            <a:avLst/>
          </a:prstGeom>
          <a:noFill/>
        </p:spPr>
        <p:txBody>
          <a:bodyPr wrap="square" anchor="t" lIns="0" rIns="0" tIns="0" bIns="0">
            <a:spAutoFit/>
          </a:bodyPr>
          <a:lstStyle/>
          <a:p>
            <a:pPr algn="l">
              <a:spcAft>
                <a:spcPts val="0"/>
              </a:spcAft>
            </a:pPr>
            <a:r>
              <a:rPr sz="1900" b="1" i="0">
                <a:solidFill>
                  <a:srgbClr val="17233A"/>
                </a:solidFill>
                <a:latin typeface="Calibri"/>
              </a:rPr>
              <a:t>Lưu và thông báo</a:t>
            </a:r>
          </a:p>
        </p:txBody>
      </p:sp>
      <p:sp>
        <p:nvSpPr>
          <p:cNvPr id="21" name="TextBox 20"/>
          <p:cNvSpPr txBox="1"/>
          <p:nvPr/>
        </p:nvSpPr>
        <p:spPr>
          <a:xfrm>
            <a:off x="9189491" y="2816352"/>
            <a:ext cx="2270683" cy="128016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Lưu hồ sơ, thông báo kết quả đến đối tượng được đánh giá.</a:t>
            </a:r>
          </a:p>
        </p:txBody>
      </p:sp>
      <p:sp>
        <p:nvSpPr>
          <p:cNvPr id="22" name="TextBox 21"/>
          <p:cNvSpPr txBox="1"/>
          <p:nvPr/>
        </p:nvSpPr>
        <p:spPr>
          <a:xfrm>
            <a:off x="548640" y="4416552"/>
            <a:ext cx="11094415" cy="365760"/>
          </a:xfrm>
          <a:prstGeom prst="rect">
            <a:avLst/>
          </a:prstGeom>
          <a:noFill/>
        </p:spPr>
        <p:txBody>
          <a:bodyPr wrap="square" anchor="t" lIns="0" rIns="0" tIns="0" bIns="0">
            <a:spAutoFit/>
          </a:bodyPr>
          <a:lstStyle/>
          <a:p>
            <a:pPr algn="l">
              <a:spcAft>
                <a:spcPts val="0"/>
              </a:spcAft>
            </a:pPr>
            <a:r>
              <a:rPr sz="1800" b="1" i="0">
                <a:solidFill>
                  <a:srgbClr val="17233A"/>
                </a:solidFill>
                <a:latin typeface="Calibri"/>
              </a:rPr>
              <a:t>Phần mềm đã cài</a:t>
            </a:r>
          </a:p>
        </p:txBody>
      </p:sp>
      <p:sp>
        <p:nvSpPr>
          <p:cNvPr id="23" name="TextBox 22"/>
          <p:cNvSpPr txBox="1"/>
          <p:nvPr/>
        </p:nvSpPr>
        <p:spPr>
          <a:xfrm>
            <a:off x="548640" y="4828032"/>
            <a:ext cx="11094415" cy="109728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Luồng tự chấm, thẩm định, phê duyệt, trả lại có lý do; khóa hồ sơ sau phê duyệt ở cả lớp nghiệp vụ và cơ sở dữ liệu; nhật ký mọi bước. Hồ sơ của Ban chỉ thẩm định được khi mọi phòng đã phê duyệt. Người thẩm định, phê duyệt lấy theo cây vị trí, là giả định cần xác nhận.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1 · CẦN CẤP CÓ THẨM QUYỀN QUYẾT ĐỊNH</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Năm điểm chưa quy định và đề xuất mặc định</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Chi tiết và căn cứ: bộ tiêu chí mục 8</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13</a:t>
            </a:r>
          </a:p>
        </p:txBody>
      </p:sp>
      <p:sp>
        <p:nvSpPr>
          <p:cNvPr id="6" name="Hàng"/>
          <p:cNvSpPr/>
          <p:nvPr/>
        </p:nvSpPr>
        <p:spPr>
          <a:xfrm>
            <a:off x="548640" y="153619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3619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1</a:t>
            </a:r>
          </a:p>
        </p:txBody>
      </p:sp>
      <p:sp>
        <p:nvSpPr>
          <p:cNvPr id="8" name="TextBox 7"/>
          <p:cNvSpPr txBox="1"/>
          <p:nvPr/>
        </p:nvSpPr>
        <p:spPr>
          <a:xfrm>
            <a:off x="1463040" y="153619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Phân bổ điểm tập thể.</a:t>
            </a:r>
            <a:r>
              <a:rPr sz="1700" b="0" i="0">
                <a:solidFill>
                  <a:srgbClr val="17233A"/>
                </a:solidFill>
                <a:latin typeface="Calibri"/>
              </a:rPr>
              <a:t> Đề xuất: 30 điểm chung 10 + 10 + 10 và sáu trục 70 điểm 15, 20, 10, 10, 10, 5; cấu hình được. Cá nhân đã có bảng theo văn bản.</a:t>
            </a:r>
          </a:p>
        </p:txBody>
      </p:sp>
      <p:sp>
        <p:nvSpPr>
          <p:cNvPr id="9" name="Hàng"/>
          <p:cNvSpPr/>
          <p:nvPr/>
        </p:nvSpPr>
        <p:spPr>
          <a:xfrm>
            <a:off x="548640" y="235915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5915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2</a:t>
            </a:r>
          </a:p>
        </p:txBody>
      </p:sp>
      <p:sp>
        <p:nvSpPr>
          <p:cNvPr id="11" name="TextBox 10"/>
          <p:cNvSpPr txBox="1"/>
          <p:nvPr/>
        </p:nvSpPr>
        <p:spPr>
          <a:xfrm>
            <a:off x="1463040" y="235915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Điều kiện xếp loại, hạn mức xuất sắc.</a:t>
            </a:r>
            <a:r>
              <a:rPr sz="1700" b="0" i="0">
                <a:solidFill>
                  <a:srgbClr val="17233A"/>
                </a:solidFill>
                <a:latin typeface="Calibri"/>
              </a:rPr>
              <a:t> Đề xuất: điều kiện cá nhân tự xếp, hạn mức gợi ý theo điểm, không tự hạ bậc.</a:t>
            </a:r>
          </a:p>
        </p:txBody>
      </p:sp>
      <p:sp>
        <p:nvSpPr>
          <p:cNvPr id="12" name="Hàng"/>
          <p:cNvSpPr/>
          <p:nvPr/>
        </p:nvSpPr>
        <p:spPr>
          <a:xfrm>
            <a:off x="548640" y="318211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8211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3</a:t>
            </a:r>
          </a:p>
        </p:txBody>
      </p:sp>
      <p:sp>
        <p:nvSpPr>
          <p:cNvPr id="14" name="TextBox 13"/>
          <p:cNvSpPr txBox="1"/>
          <p:nvPr/>
        </p:nvSpPr>
        <p:spPr>
          <a:xfrm>
            <a:off x="1463040" y="318211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Điểm quý, năm.</a:t>
            </a:r>
            <a:r>
              <a:rPr sz="1700" b="0" i="0">
                <a:solidFill>
                  <a:srgbClr val="17233A"/>
                </a:solidFill>
                <a:latin typeface="Calibri"/>
              </a:rPr>
              <a:t> Đề xuất (đã cài): quý chấm trực tiếp; năm là trung bình các tháng đã phê duyệt, từ 6 tháng.</a:t>
            </a:r>
          </a:p>
        </p:txBody>
      </p:sp>
      <p:sp>
        <p:nvSpPr>
          <p:cNvPr id="15" name="Hàng"/>
          <p:cNvSpPr/>
          <p:nvPr/>
        </p:nvSpPr>
        <p:spPr>
          <a:xfrm>
            <a:off x="548640" y="400507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0507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4</a:t>
            </a:r>
          </a:p>
        </p:txBody>
      </p:sp>
      <p:sp>
        <p:nvSpPr>
          <p:cNvPr id="17" name="TextBox 16"/>
          <p:cNvSpPr txBox="1"/>
          <p:nvPr/>
        </p:nvSpPr>
        <p:spPr>
          <a:xfrm>
            <a:off x="1463040" y="400507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OKR chấm riêng.</a:t>
            </a:r>
            <a:r>
              <a:rPr sz="1700" b="0" i="0">
                <a:solidFill>
                  <a:srgbClr val="17233A"/>
                </a:solidFill>
                <a:latin typeface="Calibri"/>
              </a:rPr>
              <a:t> Đề xuất: KPI chấm điểm duy nhất; OKR theo dõi, gắn việc với kết quả then chốt.</a:t>
            </a:r>
          </a:p>
        </p:txBody>
      </p:sp>
      <p:sp>
        <p:nvSpPr>
          <p:cNvPr id="18" name="Hàng"/>
          <p:cNvSpPr/>
          <p:nvPr/>
        </p:nvSpPr>
        <p:spPr>
          <a:xfrm>
            <a:off x="548640" y="482803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2803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5</a:t>
            </a:r>
          </a:p>
        </p:txBody>
      </p:sp>
      <p:sp>
        <p:nvSpPr>
          <p:cNvPr id="20" name="TextBox 19"/>
          <p:cNvSpPr txBox="1"/>
          <p:nvPr/>
        </p:nvSpPr>
        <p:spPr>
          <a:xfrm>
            <a:off x="1463040" y="482803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Thẩm định hồ sơ Ban.</a:t>
            </a:r>
            <a:r>
              <a:rPr sz="1700" b="0" i="0">
                <a:solidFill>
                  <a:srgbClr val="17233A"/>
                </a:solidFill>
                <a:latin typeface="Calibri"/>
              </a:rPr>
              <a:t> Đề xuất: tài khoản đại diện Ban Thường vụ thẩm định và công nhận.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MÔ TẢ HỆ THỐNG</a:t>
            </a:r>
          </a:p>
        </p:txBody>
      </p:sp>
      <p:sp>
        <p:nvSpPr>
          <p:cNvPr id="3" name="Tiêu đề"/>
          <p:cNvSpPr txBox="1"/>
          <p:nvPr/>
        </p:nvSpPr>
        <p:spPr>
          <a:xfrm>
            <a:off x="548640" y="713232"/>
            <a:ext cx="11094415" cy="10972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Hệ thống nội bộ, dữ liệu cán bộ, không có bí mật nhà nước</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85/2016/NĐ-CP Điều 5, 8 · Nghị định 63/2026/NĐ-CP · Công văn 1638-CV/TU</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14</a:t>
            </a:r>
          </a:p>
        </p:txBody>
      </p:sp>
      <p:sp>
        <p:nvSpPr>
          <p:cNvPr id="6" name="Thẻ"/>
          <p:cNvSpPr/>
          <p:nvPr/>
        </p:nvSpPr>
        <p:spPr>
          <a:xfrm>
            <a:off x="548640" y="2084831"/>
            <a:ext cx="5364327" cy="35661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13432"/>
            <a:ext cx="4907127"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Hệ thống xử lý</a:t>
            </a:r>
          </a:p>
        </p:txBody>
      </p:sp>
      <p:sp>
        <p:nvSpPr>
          <p:cNvPr id="8" name="Nội dung thẻ"/>
          <p:cNvSpPr txBox="1"/>
          <p:nvPr/>
        </p:nvSpPr>
        <p:spPr>
          <a:xfrm>
            <a:off x="777240" y="2734564"/>
            <a:ext cx="4907127" cy="2733547"/>
          </a:xfrm>
          <a:prstGeom prst="rect">
            <a:avLst/>
          </a:prstGeom>
          <a:noFill/>
        </p:spPr>
        <p:txBody>
          <a:bodyPr wrap="square" anchor="t" lIns="0" rIns="0" tIns="0" bIns="0">
            <a:spAutoFit/>
          </a:bodyPr>
          <a:lstStyle/>
          <a:p>
            <a:pPr algn="l">
              <a:spcAft>
                <a:spcPts val="800"/>
              </a:spcAft>
            </a:pPr>
            <a:r>
              <a:rPr sz="1700" b="0" i="0">
                <a:solidFill>
                  <a:srgbClr val="3B4658"/>
                </a:solidFill>
                <a:latin typeface="Calibri"/>
              </a:rPr>
              <a:t>Mục đích: quản lý, đánh giá kết quả thực hiện nhiệm vụ của cán bộ, công chức và các phòng theo tháng, quý, năm.</a:t>
            </a:r>
          </a:p>
          <a:p>
            <a:pPr algn="l">
              <a:spcAft>
                <a:spcPts val="800"/>
              </a:spcAft>
            </a:pPr>
            <a:r>
              <a:rPr sz="1700" b="0" i="0">
                <a:solidFill>
                  <a:srgbClr val="3B4658"/>
                </a:solidFill>
                <a:latin typeface="Calibri"/>
              </a:rPr>
              <a:t>Người dùng: nội bộ Ban, vài chục người, không phục vụ người dân, doanh nghiệp.</a:t>
            </a:r>
          </a:p>
          <a:p>
            <a:pPr algn="l">
              <a:spcAft>
                <a:spcPts val="800"/>
              </a:spcAft>
            </a:pPr>
            <a:r>
              <a:rPr sz="1700" b="0" i="0">
                <a:solidFill>
                  <a:srgbClr val="3B4658"/>
                </a:solidFill>
                <a:latin typeface="Calibri"/>
              </a:rPr>
              <a:t>Thông tin: họ tên, chức vụ, việc được giao và kết quả, điểm, xếp loại, nhận xét thẩm định, tài liệu đính kèm.</a:t>
            </a:r>
          </a:p>
        </p:txBody>
      </p:sp>
      <p:sp>
        <p:nvSpPr>
          <p:cNvPr id="9" name="Thẻ"/>
          <p:cNvSpPr/>
          <p:nvPr/>
        </p:nvSpPr>
        <p:spPr>
          <a:xfrm>
            <a:off x="6278727" y="2084831"/>
            <a:ext cx="5364327" cy="3566160"/>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313432"/>
            <a:ext cx="4907127" cy="329691"/>
          </a:xfrm>
          <a:prstGeom prst="rect">
            <a:avLst/>
          </a:prstGeom>
          <a:noFill/>
        </p:spPr>
        <p:txBody>
          <a:bodyPr wrap="square" anchor="t" lIns="0" rIns="0" tIns="0" bIns="0">
            <a:spAutoFit/>
          </a:bodyPr>
          <a:lstStyle/>
          <a:p>
            <a:pPr algn="l">
              <a:spcAft>
                <a:spcPts val="0"/>
              </a:spcAft>
            </a:pPr>
            <a:r>
              <a:rPr sz="2200" b="1" i="0">
                <a:solidFill>
                  <a:srgbClr val="E3B04B"/>
                </a:solidFill>
                <a:latin typeface="Calibri"/>
              </a:rPr>
              <a:t>Hệ thống không xử lý</a:t>
            </a:r>
          </a:p>
        </p:txBody>
      </p:sp>
      <p:sp>
        <p:nvSpPr>
          <p:cNvPr id="11" name="Nội dung thẻ"/>
          <p:cNvSpPr txBox="1"/>
          <p:nvPr/>
        </p:nvSpPr>
        <p:spPr>
          <a:xfrm>
            <a:off x="6507327" y="2734564"/>
            <a:ext cx="4907127" cy="2733547"/>
          </a:xfrm>
          <a:prstGeom prst="rect">
            <a:avLst/>
          </a:prstGeom>
          <a:noFill/>
        </p:spPr>
        <p:txBody>
          <a:bodyPr wrap="square" anchor="t" lIns="0" rIns="0" tIns="0" bIns="0">
            <a:spAutoFit/>
          </a:bodyPr>
          <a:lstStyle/>
          <a:p>
            <a:pPr algn="l">
              <a:spcAft>
                <a:spcPts val="800"/>
              </a:spcAft>
            </a:pPr>
            <a:r>
              <a:rPr sz="1700" b="1" i="0">
                <a:solidFill>
                  <a:srgbClr val="DCE4EE"/>
                </a:solidFill>
                <a:latin typeface="Calibri"/>
              </a:rPr>
              <a:t>Nội dung bí mật nhà nước.</a:t>
            </a:r>
            <a:r>
              <a:rPr sz="1700" b="0" i="0">
                <a:solidFill>
                  <a:srgbClr val="DCE4EE"/>
                </a:solidFill>
                <a:latin typeface="Calibri"/>
              </a:rPr>
              <a:t> Công việc liên quan văn bản mật chỉ ghi số lượng và nhãn.</a:t>
            </a:r>
          </a:p>
          <a:p>
            <a:pPr algn="l">
              <a:spcAft>
                <a:spcPts val="800"/>
              </a:spcAft>
            </a:pPr>
            <a:r>
              <a:rPr sz="1700" b="0" i="0">
                <a:solidFill>
                  <a:srgbClr val="DCE4EE"/>
                </a:solidFill>
                <a:latin typeface="Calibri"/>
              </a:rPr>
              <a:t>Dữ liệu mức 3 của Công văn 1638: lịch sử bản thân, tài sản thu nhập, quan hệ gia đình.</a:t>
            </a:r>
          </a:p>
          <a:p>
            <a:pPr algn="l">
              <a:spcAft>
                <a:spcPts val="800"/>
              </a:spcAft>
            </a:pPr>
            <a:r>
              <a:rPr sz="1700" b="0" i="0">
                <a:solidFill>
                  <a:srgbClr val="DCE4EE"/>
                </a:solidFill>
                <a:latin typeface="Calibri"/>
              </a:rPr>
              <a:t>Kết nối ngoài: chưa có. Thiết kế để sau này nối hệ thống Trung ương qua nền tảng chia sẻ dữ liệu của Đảng.</a:t>
            </a:r>
          </a:p>
        </p:txBody>
      </p:sp>
      <p:sp>
        <p:nvSpPr>
          <p:cNvPr id="12" name="TextBox 11"/>
          <p:cNvSpPr txBox="1"/>
          <p:nvPr/>
        </p:nvSpPr>
        <p:spPr>
          <a:xfrm>
            <a:off x="548640" y="5833871"/>
            <a:ext cx="11094415" cy="45720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Công nghệ: backend NestJS, frontend Next.js, cơ sở dữ liệu PostgreSQL, kho tệp tương thích S3.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XÁC ĐỊNH CẤP ĐỘ</a:t>
            </a:r>
          </a:p>
        </p:txBody>
      </p:sp>
      <p:sp>
        <p:nvSpPr>
          <p:cNvPr id="3" name="Tiêu đề"/>
          <p:cNvSpPr txBox="1"/>
          <p:nvPr/>
        </p:nvSpPr>
        <p:spPr>
          <a:xfrm>
            <a:off x="548640" y="713232"/>
            <a:ext cx="11094415" cy="10972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Theo loại thông tin là cấp 2, đề xuất nâng lên cấp 3</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85/2016/NĐ-CP Điều 5, 8, 9, 12, 15 · 07-HD/VPTW mục V · Công văn 1638-CV/TU</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15</a:t>
            </a:r>
          </a:p>
        </p:txBody>
      </p:sp>
      <p:sp>
        <p:nvSpPr>
          <p:cNvPr id="6" name="Thẻ"/>
          <p:cNvSpPr/>
          <p:nvPr/>
        </p:nvSpPr>
        <p:spPr>
          <a:xfrm>
            <a:off x="548640" y="2084831"/>
            <a:ext cx="5364327" cy="2697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13432"/>
            <a:ext cx="4907127"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THEO LOẠI THÔNG TIN: CẤP 2</a:t>
            </a:r>
          </a:p>
        </p:txBody>
      </p:sp>
      <p:sp>
        <p:nvSpPr>
          <p:cNvPr id="8" name="Nội dung thẻ"/>
          <p:cNvSpPr txBox="1"/>
          <p:nvPr/>
        </p:nvSpPr>
        <p:spPr>
          <a:xfrm>
            <a:off x="777240" y="2606039"/>
            <a:ext cx="4907127" cy="1993392"/>
          </a:xfrm>
          <a:prstGeom prst="rect">
            <a:avLst/>
          </a:prstGeom>
          <a:noFill/>
        </p:spPr>
        <p:txBody>
          <a:bodyPr wrap="square" anchor="t" lIns="0" rIns="0" tIns="0" bIns="0">
            <a:spAutoFit/>
          </a:bodyPr>
          <a:lstStyle/>
          <a:p>
            <a:pPr algn="l">
              <a:spcAft>
                <a:spcPts val="800"/>
              </a:spcAft>
            </a:pPr>
            <a:r>
              <a:rPr sz="1700" b="0" i="0">
                <a:solidFill>
                  <a:srgbClr val="3B4658"/>
                </a:solidFill>
                <a:latin typeface="Calibri"/>
              </a:rPr>
              <a:t>Điều 8.1: phục vụ hoạt động nội bộ, xử lý thông tin riêng, thông tin cá nhân, không xử lý bí mật nhà nước.</a:t>
            </a:r>
          </a:p>
          <a:p>
            <a:pPr algn="l">
              <a:spcAft>
                <a:spcPts val="800"/>
              </a:spcAft>
            </a:pPr>
            <a:r>
              <a:rPr sz="1700" b="0" i="0">
                <a:solidFill>
                  <a:srgbClr val="3B4658"/>
                </a:solidFill>
                <a:latin typeface="Calibri"/>
              </a:rPr>
              <a:t>Không thuộc cấp 3 theo Điều 9: không có bí mật nhà nước, không phục vụ người dân, doanh nghiệp, không là hạ tầng dùng chung, không phải hệ thống điều khiển công nghiệp.</a:t>
            </a:r>
          </a:p>
        </p:txBody>
      </p:sp>
      <p:sp>
        <p:nvSpPr>
          <p:cNvPr id="9" name="Thẻ"/>
          <p:cNvSpPr/>
          <p:nvPr/>
        </p:nvSpPr>
        <p:spPr>
          <a:xfrm>
            <a:off x="6278727" y="2084831"/>
            <a:ext cx="5364327" cy="2697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313432"/>
            <a:ext cx="4907127" cy="256032"/>
          </a:xfrm>
          <a:prstGeom prst="rect">
            <a:avLst/>
          </a:prstGeom>
          <a:noFill/>
        </p:spPr>
        <p:txBody>
          <a:bodyPr wrap="square" anchor="t" lIns="0" rIns="0" tIns="0" bIns="0">
            <a:spAutoFit/>
          </a:bodyPr>
          <a:lstStyle/>
          <a:p>
            <a:pPr algn="l">
              <a:spcAft>
                <a:spcPts val="0"/>
              </a:spcAft>
            </a:pPr>
            <a:r>
              <a:rPr sz="1100" b="1" i="0">
                <a:solidFill>
                  <a:srgbClr val="A4262C"/>
                </a:solidFill>
                <a:latin typeface="Calibri"/>
              </a:rPr>
              <a:t>THEO THỰC TIỄN: ĐỀ XUẤT CẤP 3</a:t>
            </a:r>
          </a:p>
        </p:txBody>
      </p:sp>
      <p:sp>
        <p:nvSpPr>
          <p:cNvPr id="11" name="Nội dung thẻ"/>
          <p:cNvSpPr txBox="1"/>
          <p:nvPr/>
        </p:nvSpPr>
        <p:spPr>
          <a:xfrm>
            <a:off x="6507327" y="2606039"/>
            <a:ext cx="4907127" cy="1993392"/>
          </a:xfrm>
          <a:prstGeom prst="rect">
            <a:avLst/>
          </a:prstGeom>
          <a:noFill/>
        </p:spPr>
        <p:txBody>
          <a:bodyPr wrap="square" anchor="t" lIns="0" rIns="0" tIns="0" bIns="0">
            <a:spAutoFit/>
          </a:bodyPr>
          <a:lstStyle/>
          <a:p>
            <a:pPr algn="l">
              <a:spcAft>
                <a:spcPts val="800"/>
              </a:spcAft>
            </a:pPr>
            <a:r>
              <a:rPr sz="1700" b="0" i="0">
                <a:solidFill>
                  <a:srgbClr val="3B4658"/>
                </a:solidFill>
                <a:latin typeface="Calibri"/>
              </a:rPr>
              <a:t>07-HD/VPTW mục V: hệ thống kết nối nền tảng chia sẻ dữ liệu của Đảng phải bảo đảm từ cấp 3 trở lên.</a:t>
            </a:r>
          </a:p>
          <a:p>
            <a:pPr algn="l">
              <a:spcAft>
                <a:spcPts val="800"/>
              </a:spcAft>
            </a:pPr>
            <a:r>
              <a:rPr sz="1700" b="0" i="0">
                <a:solidFill>
                  <a:srgbClr val="3B4658"/>
                </a:solidFill>
                <a:latin typeface="Calibri"/>
              </a:rPr>
              <a:t>Quy định 348, Điều 26.1: tối thiểu cấp 3 trước khi kết nối. Dữ liệu đánh giá cán bộ phục vụ quy hoạch, bổ nhiệm, kỷ luật nên nhạy cảm hơn thông tin cá nhân thường.</a:t>
            </a:r>
          </a:p>
        </p:txBody>
      </p:sp>
      <p:sp>
        <p:nvSpPr>
          <p:cNvPr id="12" name="Khung nhấn"/>
          <p:cNvSpPr/>
          <p:nvPr/>
        </p:nvSpPr>
        <p:spPr>
          <a:xfrm>
            <a:off x="548640" y="5010912"/>
            <a:ext cx="11094415" cy="1645920"/>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5175504"/>
            <a:ext cx="10545775" cy="320040"/>
          </a:xfrm>
          <a:prstGeom prst="rect">
            <a:avLst/>
          </a:prstGeom>
          <a:noFill/>
        </p:spPr>
        <p:txBody>
          <a:bodyPr wrap="square" anchor="t" lIns="0" rIns="0" tIns="0" bIns="0">
            <a:spAutoFit/>
          </a:bodyPr>
          <a:lstStyle/>
          <a:p>
            <a:pPr algn="l">
              <a:spcAft>
                <a:spcPts val="0"/>
              </a:spcAft>
            </a:pPr>
            <a:r>
              <a:rPr sz="1800" b="1" i="0">
                <a:solidFill>
                  <a:srgbClr val="E3B04B"/>
                </a:solidFill>
                <a:latin typeface="Calibri"/>
              </a:rPr>
              <a:t>Đề xuất: cấp độ an toàn thông tin 3</a:t>
            </a:r>
          </a:p>
        </p:txBody>
      </p:sp>
      <p:sp>
        <p:nvSpPr>
          <p:cNvPr id="14" name="TextBox 13"/>
          <p:cNvSpPr txBox="1"/>
          <p:nvPr/>
        </p:nvSpPr>
        <p:spPr>
          <a:xfrm>
            <a:off x="822959" y="5577840"/>
            <a:ext cx="10545775" cy="960120"/>
          </a:xfrm>
          <a:prstGeom prst="rect">
            <a:avLst/>
          </a:prstGeom>
          <a:noFill/>
        </p:spPr>
        <p:txBody>
          <a:bodyPr wrap="square" anchor="t" lIns="0" rIns="0" tIns="0" bIns="0">
            <a:spAutoFit/>
          </a:bodyPr>
          <a:lstStyle/>
          <a:p>
            <a:pPr algn="l">
              <a:spcAft>
                <a:spcPts val="0"/>
              </a:spcAft>
            </a:pPr>
            <a:r>
              <a:rPr sz="1700" b="0" i="0">
                <a:solidFill>
                  <a:srgbClr val="DCE4EE"/>
                </a:solidFill>
                <a:latin typeface="Calibri"/>
              </a:rPr>
              <a:t>Chỉ cần cấp 2 về pháp lý nếu cơ quan xác nhận không kết nối Trung ương; khi đó ghi rõ điều kiện nâng lên cấp 3 trước khi kết nối. Chủ quản (Trưởng ban) phê duyệt cấp độ, đơn vị chuyên trách thẩm định hồ sơ cấp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RỦI RO CHÍNH</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Sáu nhóm rủi ro cần phương án bảo đảm</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Phân tích rủi ro theo Điều 19.2 Nghị định 85/2016/NĐ-CP · Quy định 342-QĐ/BTCTW</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16</a:t>
            </a:r>
          </a:p>
        </p:txBody>
      </p:sp>
      <p:graphicFrame>
        <p:nvGraphicFramePr>
          <p:cNvPr id="6" name="Bảng"/>
          <p:cNvGraphicFramePr>
            <a:graphicFrameLocks noGrp="1"/>
          </p:cNvGraphicFramePr>
          <p:nvPr/>
        </p:nvGraphicFramePr>
        <p:xfrm>
          <a:off x="548640" y="1627632"/>
          <a:ext cx="11094414" cy="2912357"/>
        </p:xfrm>
        <a:graphic>
          <a:graphicData uri="http://schemas.openxmlformats.org/drawingml/2006/table">
            <a:tbl>
              <a:tblPr firstRow="1" bandRow="1">
                <a:tableStyleId>{5C22544A-7EE6-4342-B048-85BDC9FD1C3A}</a:tableStyleId>
              </a:tblPr>
              <a:tblGrid>
                <a:gridCol w="2383923"/>
                <a:gridCol w="4584469"/>
                <a:gridCol w="4126022"/>
              </a:tblGrid>
              <a:tr h="416051">
                <a:tc>
                  <a:txBody>
                    <a:bodyPr wrap="square"/>
                    <a:lstStyle/>
                    <a:p>
                      <a:r>
                        <a:rPr sz="1800" b="1" i="0">
                          <a:solidFill>
                            <a:srgbClr val="FFFFFF"/>
                          </a:solidFill>
                          <a:latin typeface="Calibri"/>
                        </a:rPr>
                        <a:t>Nhóm</a:t>
                      </a:r>
                    </a:p>
                  </a:txBody>
                  <a:tcPr marL="91440" marR="91440" marT="45720" marB="45720" anchor="ctr">
                    <a:solidFill>
                      <a:srgbClr val="17233A"/>
                    </a:solidFill>
                  </a:tcPr>
                </a:tc>
                <a:tc>
                  <a:txBody>
                    <a:bodyPr wrap="square"/>
                    <a:lstStyle/>
                    <a:p>
                      <a:r>
                        <a:rPr sz="1800" b="1" i="0">
                          <a:solidFill>
                            <a:srgbClr val="FFFFFF"/>
                          </a:solidFill>
                          <a:latin typeface="Calibri"/>
                        </a:rPr>
                        <a:t>Rủi ro</a:t>
                      </a:r>
                    </a:p>
                  </a:txBody>
                  <a:tcPr marL="91440" marR="91440" marT="45720" marB="45720" anchor="ctr">
                    <a:solidFill>
                      <a:srgbClr val="17233A"/>
                    </a:solidFill>
                  </a:tcPr>
                </a:tc>
                <a:tc>
                  <a:txBody>
                    <a:bodyPr wrap="square"/>
                    <a:lstStyle/>
                    <a:p>
                      <a:r>
                        <a:rPr sz="1800" b="1" i="0">
                          <a:solidFill>
                            <a:srgbClr val="FFFFFF"/>
                          </a:solidFill>
                          <a:latin typeface="Calibri"/>
                        </a:rPr>
                        <a:t>Hậu quả</a:t>
                      </a:r>
                    </a:p>
                  </a:txBody>
                  <a:tcPr marL="91440" marR="91440" marT="45720" marB="45720" anchor="ctr">
                    <a:solidFill>
                      <a:srgbClr val="17233A"/>
                    </a:solidFill>
                  </a:tcPr>
                </a:tc>
              </a:tr>
              <a:tr h="416051">
                <a:tc>
                  <a:txBody>
                    <a:bodyPr wrap="square"/>
                    <a:lstStyle/>
                    <a:p>
                      <a:r>
                        <a:rPr sz="1800" b="1" i="0">
                          <a:solidFill>
                            <a:srgbClr val="17233A"/>
                          </a:solidFill>
                          <a:latin typeface="Calibri"/>
                        </a:rPr>
                        <a:t>Bảo mật</a:t>
                      </a:r>
                    </a:p>
                  </a:txBody>
                  <a:tcPr marL="91440" marR="91440" marT="45720" marB="45720" anchor="ctr">
                    <a:solidFill>
                      <a:srgbClr val="FFFFFF"/>
                    </a:solidFill>
                  </a:tcPr>
                </a:tc>
                <a:tc>
                  <a:txBody>
                    <a:bodyPr wrap="square"/>
                    <a:lstStyle/>
                    <a:p>
                      <a:r>
                        <a:rPr sz="1800" b="0" i="0">
                          <a:solidFill>
                            <a:srgbClr val="17233A"/>
                          </a:solidFill>
                          <a:latin typeface="Calibri"/>
                        </a:rPr>
                        <a:t>Lộ điểm, xếp loại, nhận xét</a:t>
                      </a:r>
                    </a:p>
                  </a:txBody>
                  <a:tcPr marL="91440" marR="91440" marT="45720" marB="45720" anchor="ctr">
                    <a:solidFill>
                      <a:srgbClr val="FFFFFF"/>
                    </a:solidFill>
                  </a:tcPr>
                </a:tc>
                <a:tc>
                  <a:txBody>
                    <a:bodyPr wrap="square"/>
                    <a:lstStyle/>
                    <a:p>
                      <a:r>
                        <a:rPr sz="1800" b="0" i="0">
                          <a:solidFill>
                            <a:srgbClr val="17233A"/>
                          </a:solidFill>
                          <a:latin typeface="Calibri"/>
                        </a:rPr>
                        <a:t>Ảnh hưởng quy hoạch, bổ nhiệm</a:t>
                      </a:r>
                    </a:p>
                  </a:txBody>
                  <a:tcPr marL="91440" marR="91440" marT="45720" marB="45720" anchor="ctr">
                    <a:solidFill>
                      <a:srgbClr val="FFFFFF"/>
                    </a:solidFill>
                  </a:tcPr>
                </a:tc>
              </a:tr>
              <a:tr h="416051">
                <a:tc>
                  <a:txBody>
                    <a:bodyPr wrap="square"/>
                    <a:lstStyle/>
                    <a:p>
                      <a:r>
                        <a:rPr sz="1800" b="1" i="0">
                          <a:solidFill>
                            <a:srgbClr val="17233A"/>
                          </a:solidFill>
                          <a:latin typeface="Calibri"/>
                        </a:rPr>
                        <a:t>Toàn vẹn</a:t>
                      </a:r>
                    </a:p>
                  </a:txBody>
                  <a:tcPr marL="91440" marR="91440" marT="45720" marB="45720" anchor="ctr">
                    <a:solidFill>
                      <a:srgbClr val="F3F5F8"/>
                    </a:solidFill>
                  </a:tcPr>
                </a:tc>
                <a:tc>
                  <a:txBody>
                    <a:bodyPr wrap="square"/>
                    <a:lstStyle/>
                    <a:p>
                      <a:r>
                        <a:rPr sz="1800" b="0" i="0">
                          <a:solidFill>
                            <a:srgbClr val="17233A"/>
                          </a:solidFill>
                          <a:latin typeface="Calibri"/>
                        </a:rPr>
                        <a:t>Sửa điểm, xóa dấu vết sau phê duyệt</a:t>
                      </a:r>
                    </a:p>
                  </a:txBody>
                  <a:tcPr marL="91440" marR="91440" marT="45720" marB="45720" anchor="ctr">
                    <a:solidFill>
                      <a:srgbClr val="F3F5F8"/>
                    </a:solidFill>
                  </a:tcPr>
                </a:tc>
                <a:tc>
                  <a:txBody>
                    <a:bodyPr wrap="square"/>
                    <a:lstStyle/>
                    <a:p>
                      <a:r>
                        <a:rPr sz="1800" b="0" i="0">
                          <a:solidFill>
                            <a:srgbClr val="17233A"/>
                          </a:solidFill>
                          <a:latin typeface="Calibri"/>
                        </a:rPr>
                        <a:t>Kết quả sai, mất khách quan</a:t>
                      </a:r>
                    </a:p>
                  </a:txBody>
                  <a:tcPr marL="91440" marR="91440" marT="45720" marB="45720" anchor="ctr">
                    <a:solidFill>
                      <a:srgbClr val="F3F5F8"/>
                    </a:solidFill>
                  </a:tcPr>
                </a:tc>
              </a:tr>
              <a:tr h="416051">
                <a:tc>
                  <a:txBody>
                    <a:bodyPr wrap="square"/>
                    <a:lstStyle/>
                    <a:p>
                      <a:r>
                        <a:rPr sz="1800" b="1" i="0">
                          <a:solidFill>
                            <a:srgbClr val="17233A"/>
                          </a:solidFill>
                          <a:latin typeface="Calibri"/>
                        </a:rPr>
                        <a:t>Sẵn sàng</a:t>
                      </a:r>
                    </a:p>
                  </a:txBody>
                  <a:tcPr marL="91440" marR="91440" marT="45720" marB="45720" anchor="ctr">
                    <a:solidFill>
                      <a:srgbClr val="FFFFFF"/>
                    </a:solidFill>
                  </a:tcPr>
                </a:tc>
                <a:tc>
                  <a:txBody>
                    <a:bodyPr wrap="square"/>
                    <a:lstStyle/>
                    <a:p>
                      <a:r>
                        <a:rPr sz="1800" b="0" i="0">
                          <a:solidFill>
                            <a:srgbClr val="17233A"/>
                          </a:solidFill>
                          <a:latin typeface="Calibri"/>
                        </a:rPr>
                        <a:t>Mất dữ liệu, ngừng vào kỳ đánh giá</a:t>
                      </a:r>
                    </a:p>
                  </a:txBody>
                  <a:tcPr marL="91440" marR="91440" marT="45720" marB="45720" anchor="ctr">
                    <a:solidFill>
                      <a:srgbClr val="FFFFFF"/>
                    </a:solidFill>
                  </a:tcPr>
                </a:tc>
                <a:tc>
                  <a:txBody>
                    <a:bodyPr wrap="square"/>
                    <a:lstStyle/>
                    <a:p>
                      <a:r>
                        <a:rPr sz="1800" b="0" i="0">
                          <a:solidFill>
                            <a:srgbClr val="17233A"/>
                          </a:solidFill>
                          <a:latin typeface="Calibri"/>
                        </a:rPr>
                        <a:t>Chậm hạn nộp ngày 15/12</a:t>
                      </a:r>
                    </a:p>
                  </a:txBody>
                  <a:tcPr marL="91440" marR="91440" marT="45720" marB="45720" anchor="ctr">
                    <a:solidFill>
                      <a:srgbClr val="FFFFFF"/>
                    </a:solidFill>
                  </a:tcPr>
                </a:tc>
              </a:tr>
              <a:tr h="416051">
                <a:tc>
                  <a:txBody>
                    <a:bodyPr wrap="square"/>
                    <a:lstStyle/>
                    <a:p>
                      <a:r>
                        <a:rPr sz="1800" b="1" i="0">
                          <a:solidFill>
                            <a:srgbClr val="17233A"/>
                          </a:solidFill>
                          <a:latin typeface="Calibri"/>
                        </a:rPr>
                        <a:t>Bí mật nhà nước</a:t>
                      </a:r>
                    </a:p>
                  </a:txBody>
                  <a:tcPr marL="91440" marR="91440" marT="45720" marB="45720" anchor="ctr">
                    <a:solidFill>
                      <a:srgbClr val="F3F5F8"/>
                    </a:solidFill>
                  </a:tcPr>
                </a:tc>
                <a:tc>
                  <a:txBody>
                    <a:bodyPr wrap="square"/>
                    <a:lstStyle/>
                    <a:p>
                      <a:r>
                        <a:rPr sz="1800" b="0" i="0">
                          <a:solidFill>
                            <a:srgbClr val="17233A"/>
                          </a:solidFill>
                          <a:latin typeface="Calibri"/>
                        </a:rPr>
                        <a:t>Nhập nội dung mật vào ô văn bản, tệp</a:t>
                      </a:r>
                    </a:p>
                  </a:txBody>
                  <a:tcPr marL="91440" marR="91440" marT="45720" marB="45720" anchor="ctr">
                    <a:solidFill>
                      <a:srgbClr val="F3F5F8"/>
                    </a:solidFill>
                  </a:tcPr>
                </a:tc>
                <a:tc>
                  <a:txBody>
                    <a:bodyPr wrap="square"/>
                    <a:lstStyle/>
                    <a:p>
                      <a:r>
                        <a:rPr sz="1800" b="0" i="0">
                          <a:solidFill>
                            <a:srgbClr val="17233A"/>
                          </a:solidFill>
                          <a:latin typeface="Calibri"/>
                        </a:rPr>
                        <a:t>Lộ bí mật trên hệ thống nối mạng</a:t>
                      </a:r>
                    </a:p>
                  </a:txBody>
                  <a:tcPr marL="91440" marR="91440" marT="45720" marB="45720" anchor="ctr">
                    <a:solidFill>
                      <a:srgbClr val="F3F5F8"/>
                    </a:solidFill>
                  </a:tcPr>
                </a:tc>
              </a:tr>
              <a:tr h="416051">
                <a:tc>
                  <a:txBody>
                    <a:bodyPr wrap="square"/>
                    <a:lstStyle/>
                    <a:p>
                      <a:r>
                        <a:rPr sz="1800" b="1" i="0">
                          <a:solidFill>
                            <a:srgbClr val="17233A"/>
                          </a:solidFill>
                          <a:latin typeface="Calibri"/>
                        </a:rPr>
                        <a:t>Nội bộ</a:t>
                      </a:r>
                    </a:p>
                  </a:txBody>
                  <a:tcPr marL="91440" marR="91440" marT="45720" marB="45720" anchor="ctr">
                    <a:solidFill>
                      <a:srgbClr val="FFFFFF"/>
                    </a:solidFill>
                  </a:tcPr>
                </a:tc>
                <a:tc>
                  <a:txBody>
                    <a:bodyPr wrap="square"/>
                    <a:lstStyle/>
                    <a:p>
                      <a:r>
                        <a:rPr sz="1800" b="0" i="0">
                          <a:solidFill>
                            <a:srgbClr val="17233A"/>
                          </a:solidFill>
                          <a:latin typeface="Calibri"/>
                        </a:rPr>
                        <a:t>Quản trị tự sửa kết quả</a:t>
                      </a:r>
                    </a:p>
                  </a:txBody>
                  <a:tcPr marL="91440" marR="91440" marT="45720" marB="45720" anchor="ctr">
                    <a:solidFill>
                      <a:srgbClr val="FFFFFF"/>
                    </a:solidFill>
                  </a:tcPr>
                </a:tc>
                <a:tc>
                  <a:txBody>
                    <a:bodyPr wrap="square"/>
                    <a:lstStyle/>
                    <a:p>
                      <a:r>
                        <a:rPr sz="1800" b="0" i="0">
                          <a:solidFill>
                            <a:srgbClr val="17233A"/>
                          </a:solidFill>
                          <a:latin typeface="Calibri"/>
                        </a:rPr>
                        <a:t>Gian lận</a:t>
                      </a:r>
                    </a:p>
                  </a:txBody>
                  <a:tcPr marL="91440" marR="91440" marT="45720" marB="45720" anchor="ctr">
                    <a:solidFill>
                      <a:srgbClr val="FFFFFF"/>
                    </a:solidFill>
                  </a:tcPr>
                </a:tc>
              </a:tr>
              <a:tr h="416051">
                <a:tc>
                  <a:txBody>
                    <a:bodyPr wrap="square"/>
                    <a:lstStyle/>
                    <a:p>
                      <a:r>
                        <a:rPr sz="1800" b="1" i="0">
                          <a:solidFill>
                            <a:srgbClr val="17233A"/>
                          </a:solidFill>
                          <a:latin typeface="Calibri"/>
                        </a:rPr>
                        <a:t>Chuỗi cung ứng</a:t>
                      </a:r>
                    </a:p>
                  </a:txBody>
                  <a:tcPr marL="91440" marR="91440" marT="45720" marB="45720" anchor="ctr">
                    <a:solidFill>
                      <a:srgbClr val="F3F5F8"/>
                    </a:solidFill>
                  </a:tcPr>
                </a:tc>
                <a:tc>
                  <a:txBody>
                    <a:bodyPr wrap="square"/>
                    <a:lstStyle/>
                    <a:p>
                      <a:r>
                        <a:rPr sz="1800" b="0" i="0">
                          <a:solidFill>
                            <a:srgbClr val="17233A"/>
                          </a:solidFill>
                          <a:latin typeface="Calibri"/>
                        </a:rPr>
                        <a:t>Thư viện mã nguồn mở có lỗ hổng</a:t>
                      </a:r>
                    </a:p>
                  </a:txBody>
                  <a:tcPr marL="91440" marR="91440" marT="45720" marB="45720" anchor="ctr">
                    <a:solidFill>
                      <a:srgbClr val="F3F5F8"/>
                    </a:solidFill>
                  </a:tcPr>
                </a:tc>
                <a:tc>
                  <a:txBody>
                    <a:bodyPr wrap="square"/>
                    <a:lstStyle/>
                    <a:p>
                      <a:r>
                        <a:rPr sz="1800" b="0" i="0">
                          <a:solidFill>
                            <a:srgbClr val="17233A"/>
                          </a:solidFill>
                          <a:latin typeface="Calibri"/>
                        </a:rPr>
                        <a:t>Bị khai thác từ bên ngoài</a:t>
                      </a:r>
                    </a:p>
                  </a:txBody>
                  <a:tcPr marL="91440" marR="91440" marT="45720" marB="45720" anchor="ctr">
                    <a:solidFill>
                      <a:srgbClr val="F3F5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PHƯƠNG ÁN BẢO ĐẢM</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Bảo đảm theo bốn lớp, bám Điều 19 Nghị định 85</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85/2016 Điều 19, 20 · Quy định 342-QĐ/BTCTW Chương IV, V · Nghị định 165/2025 Điều 16, 17</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17</a:t>
            </a:r>
          </a:p>
        </p:txBody>
      </p:sp>
      <p:sp>
        <p:nvSpPr>
          <p:cNvPr id="6" name="Thẻ"/>
          <p:cNvSpPr/>
          <p:nvPr/>
        </p:nvSpPr>
        <p:spPr>
          <a:xfrm>
            <a:off x="548640" y="1627632"/>
            <a:ext cx="2636443" cy="3931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2179243"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Quản lý</a:t>
            </a:r>
          </a:p>
        </p:txBody>
      </p:sp>
      <p:sp>
        <p:nvSpPr>
          <p:cNvPr id="8" name="Nội dung thẻ"/>
          <p:cNvSpPr txBox="1"/>
          <p:nvPr/>
        </p:nvSpPr>
        <p:spPr>
          <a:xfrm>
            <a:off x="777240" y="2247392"/>
            <a:ext cx="2179243" cy="3129280"/>
          </a:xfrm>
          <a:prstGeom prst="rect">
            <a:avLst/>
          </a:prstGeom>
          <a:noFill/>
        </p:spPr>
        <p:txBody>
          <a:bodyPr wrap="square" anchor="t" lIns="0" rIns="0" tIns="0" bIns="0">
            <a:spAutoFit/>
          </a:bodyPr>
          <a:lstStyle/>
          <a:p>
            <a:pPr algn="l">
              <a:spcAft>
                <a:spcPts val="1000"/>
              </a:spcAft>
            </a:pPr>
            <a:r>
              <a:rPr sz="1700" b="0" i="0">
                <a:solidFill>
                  <a:srgbClr val="3B4658"/>
                </a:solidFill>
                <a:latin typeface="Calibri"/>
              </a:rPr>
              <a:t>Đơn vị chuyên trách và đầu mối</a:t>
            </a:r>
          </a:p>
          <a:p>
            <a:pPr algn="l">
              <a:spcAft>
                <a:spcPts val="1000"/>
              </a:spcAft>
            </a:pPr>
            <a:r>
              <a:rPr sz="1700" b="0" i="0">
                <a:solidFill>
                  <a:srgbClr val="3B4658"/>
                </a:solidFill>
                <a:latin typeface="Calibri"/>
              </a:rPr>
              <a:t>Quy chế, cam kết người dùng</a:t>
            </a:r>
          </a:p>
          <a:p>
            <a:pPr algn="l">
              <a:spcAft>
                <a:spcPts val="1000"/>
              </a:spcAft>
            </a:pPr>
            <a:r>
              <a:rPr sz="1700" b="0" i="0">
                <a:solidFill>
                  <a:srgbClr val="3B4658"/>
                </a:solidFill>
                <a:latin typeface="Calibri"/>
              </a:rPr>
              <a:t>Quyền tối thiểu, tách vai trò</a:t>
            </a:r>
          </a:p>
          <a:p>
            <a:pPr algn="l">
              <a:spcAft>
                <a:spcPts val="1000"/>
              </a:spcAft>
            </a:pPr>
            <a:r>
              <a:rPr sz="1700" b="0" i="0">
                <a:solidFill>
                  <a:srgbClr val="3B4658"/>
                </a:solidFill>
                <a:latin typeface="Calibri"/>
              </a:rPr>
              <a:t>Sự cố 4 mức, đánh giá hằng năm</a:t>
            </a:r>
          </a:p>
        </p:txBody>
      </p:sp>
      <p:sp>
        <p:nvSpPr>
          <p:cNvPr id="9" name="Thẻ"/>
          <p:cNvSpPr/>
          <p:nvPr/>
        </p:nvSpPr>
        <p:spPr>
          <a:xfrm>
            <a:off x="3367963" y="1627632"/>
            <a:ext cx="2636443" cy="3931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6563" y="1856232"/>
            <a:ext cx="2179243"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Mạng, hạ tầng</a:t>
            </a:r>
          </a:p>
        </p:txBody>
      </p:sp>
      <p:sp>
        <p:nvSpPr>
          <p:cNvPr id="11" name="Nội dung thẻ"/>
          <p:cNvSpPr txBox="1"/>
          <p:nvPr/>
        </p:nvSpPr>
        <p:spPr>
          <a:xfrm>
            <a:off x="3596563" y="2247392"/>
            <a:ext cx="2179243" cy="3129280"/>
          </a:xfrm>
          <a:prstGeom prst="rect">
            <a:avLst/>
          </a:prstGeom>
          <a:noFill/>
        </p:spPr>
        <p:txBody>
          <a:bodyPr wrap="square" anchor="t" lIns="0" rIns="0" tIns="0" bIns="0">
            <a:spAutoFit/>
          </a:bodyPr>
          <a:lstStyle/>
          <a:p>
            <a:pPr algn="l">
              <a:spcAft>
                <a:spcPts val="1000"/>
              </a:spcAft>
            </a:pPr>
            <a:r>
              <a:rPr sz="1700" b="0" i="0">
                <a:solidFill>
                  <a:srgbClr val="3B4658"/>
                </a:solidFill>
                <a:latin typeface="Calibri"/>
              </a:rPr>
              <a:t>Đặt tại trung tâm dữ liệu Đảng</a:t>
            </a:r>
          </a:p>
          <a:p>
            <a:pPr algn="l">
              <a:spcAft>
                <a:spcPts val="1000"/>
              </a:spcAft>
            </a:pPr>
            <a:r>
              <a:rPr sz="1700" b="0" i="0">
                <a:solidFill>
                  <a:srgbClr val="3B4658"/>
                </a:solidFill>
                <a:latin typeface="Calibri"/>
              </a:rPr>
              <a:t>Tách vùng quản trị và khai thác</a:t>
            </a:r>
          </a:p>
          <a:p>
            <a:pPr algn="l">
              <a:spcAft>
                <a:spcPts val="1000"/>
              </a:spcAft>
            </a:pPr>
            <a:r>
              <a:rPr sz="1700" b="0" i="0">
                <a:solidFill>
                  <a:srgbClr val="3B4658"/>
                </a:solidFill>
                <a:latin typeface="Calibri"/>
              </a:rPr>
              <a:t>TLS mọi kết nối</a:t>
            </a:r>
          </a:p>
          <a:p>
            <a:pPr algn="l">
              <a:spcAft>
                <a:spcPts val="1000"/>
              </a:spcAft>
            </a:pPr>
            <a:r>
              <a:rPr sz="1700" b="0" i="0">
                <a:solidFill>
                  <a:srgbClr val="3B4658"/>
                </a:solidFill>
                <a:latin typeface="Calibri"/>
              </a:rPr>
              <a:t>Tường lửa ứng dụng, giám sát</a:t>
            </a:r>
          </a:p>
        </p:txBody>
      </p:sp>
      <p:sp>
        <p:nvSpPr>
          <p:cNvPr id="12" name="Thẻ"/>
          <p:cNvSpPr/>
          <p:nvPr/>
        </p:nvSpPr>
        <p:spPr>
          <a:xfrm>
            <a:off x="6187287" y="1627632"/>
            <a:ext cx="2636443" cy="3931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5887" y="1856232"/>
            <a:ext cx="2179243"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Ứng dụng</a:t>
            </a:r>
          </a:p>
        </p:txBody>
      </p:sp>
      <p:sp>
        <p:nvSpPr>
          <p:cNvPr id="14" name="Nội dung thẻ"/>
          <p:cNvSpPr txBox="1"/>
          <p:nvPr/>
        </p:nvSpPr>
        <p:spPr>
          <a:xfrm>
            <a:off x="6415887" y="2247392"/>
            <a:ext cx="2179243" cy="3129280"/>
          </a:xfrm>
          <a:prstGeom prst="rect">
            <a:avLst/>
          </a:prstGeom>
          <a:noFill/>
        </p:spPr>
        <p:txBody>
          <a:bodyPr wrap="square" anchor="t" lIns="0" rIns="0" tIns="0" bIns="0">
            <a:spAutoFit/>
          </a:bodyPr>
          <a:lstStyle/>
          <a:p>
            <a:pPr algn="l">
              <a:spcAft>
                <a:spcPts val="1000"/>
              </a:spcAft>
            </a:pPr>
            <a:r>
              <a:rPr sz="1700" b="0" i="0">
                <a:solidFill>
                  <a:srgbClr val="3B4658"/>
                </a:solidFill>
                <a:latin typeface="Calibri"/>
              </a:rPr>
              <a:t>Mật khẩu argon2id, khóa tạm</a:t>
            </a:r>
          </a:p>
          <a:p>
            <a:pPr algn="l">
              <a:spcAft>
                <a:spcPts val="1000"/>
              </a:spcAft>
            </a:pPr>
            <a:r>
              <a:rPr sz="1700" b="0" i="0">
                <a:solidFill>
                  <a:srgbClr val="3B4658"/>
                </a:solidFill>
                <a:latin typeface="Calibri"/>
              </a:rPr>
              <a:t>Phiên httpOnly, tự đóng</a:t>
            </a:r>
          </a:p>
          <a:p>
            <a:pPr algn="l">
              <a:spcAft>
                <a:spcPts val="1000"/>
              </a:spcAft>
            </a:pPr>
            <a:r>
              <a:rPr sz="1700" b="0" i="0">
                <a:solidFill>
                  <a:srgbClr val="3B4658"/>
                </a:solidFill>
                <a:latin typeface="Calibri"/>
              </a:rPr>
              <a:t>Phân quyền hai tầng</a:t>
            </a:r>
          </a:p>
          <a:p>
            <a:pPr algn="l">
              <a:spcAft>
                <a:spcPts val="1000"/>
              </a:spcAft>
            </a:pPr>
            <a:r>
              <a:rPr sz="1700" b="0" i="0">
                <a:solidFill>
                  <a:srgbClr val="3B4658"/>
                </a:solidFill>
                <a:latin typeface="Calibri"/>
              </a:rPr>
              <a:t>Kiểm tra đầu vào, tiêu đề bảo mật, giới hạn tần suất</a:t>
            </a:r>
          </a:p>
        </p:txBody>
      </p:sp>
      <p:sp>
        <p:nvSpPr>
          <p:cNvPr id="15" name="Thẻ"/>
          <p:cNvSpPr/>
          <p:nvPr/>
        </p:nvSpPr>
        <p:spPr>
          <a:xfrm>
            <a:off x="9006611" y="1627632"/>
            <a:ext cx="2636443" cy="3931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211" y="1856232"/>
            <a:ext cx="2179243" cy="299719"/>
          </a:xfrm>
          <a:prstGeom prst="rect">
            <a:avLst/>
          </a:prstGeom>
          <a:noFill/>
        </p:spPr>
        <p:txBody>
          <a:bodyPr wrap="square" anchor="t" lIns="0" rIns="0" tIns="0" bIns="0">
            <a:spAutoFit/>
          </a:bodyPr>
          <a:lstStyle/>
          <a:p>
            <a:pPr algn="l">
              <a:spcAft>
                <a:spcPts val="0"/>
              </a:spcAft>
            </a:pPr>
            <a:r>
              <a:rPr sz="2000" b="1" i="0">
                <a:solidFill>
                  <a:srgbClr val="17233A"/>
                </a:solidFill>
                <a:latin typeface="Calibri"/>
              </a:rPr>
              <a:t>Dữ liệu</a:t>
            </a:r>
          </a:p>
        </p:txBody>
      </p:sp>
      <p:sp>
        <p:nvSpPr>
          <p:cNvPr id="17" name="Nội dung thẻ"/>
          <p:cNvSpPr txBox="1"/>
          <p:nvPr/>
        </p:nvSpPr>
        <p:spPr>
          <a:xfrm>
            <a:off x="9235211" y="2247392"/>
            <a:ext cx="2179243" cy="3129280"/>
          </a:xfrm>
          <a:prstGeom prst="rect">
            <a:avLst/>
          </a:prstGeom>
          <a:noFill/>
        </p:spPr>
        <p:txBody>
          <a:bodyPr wrap="square" anchor="t" lIns="0" rIns="0" tIns="0" bIns="0">
            <a:spAutoFit/>
          </a:bodyPr>
          <a:lstStyle/>
          <a:p>
            <a:pPr algn="l">
              <a:spcAft>
                <a:spcPts val="1000"/>
              </a:spcAft>
            </a:pPr>
            <a:r>
              <a:rPr sz="1700" b="0" i="0">
                <a:solidFill>
                  <a:srgbClr val="3B4658"/>
                </a:solidFill>
                <a:latin typeface="Calibri"/>
              </a:rPr>
              <a:t>Chỉ lưu dữ liệu cần thiết</a:t>
            </a:r>
          </a:p>
          <a:p>
            <a:pPr algn="l">
              <a:spcAft>
                <a:spcPts val="1000"/>
              </a:spcAft>
            </a:pPr>
            <a:r>
              <a:rPr sz="1700" b="0" i="0">
                <a:solidFill>
                  <a:srgbClr val="3B4658"/>
                </a:solidFill>
                <a:latin typeface="Calibri"/>
              </a:rPr>
              <a:t>Nhật ký chuỗi băm, không sửa được</a:t>
            </a:r>
          </a:p>
          <a:p>
            <a:pPr algn="l">
              <a:spcAft>
                <a:spcPts val="1000"/>
              </a:spcAft>
            </a:pPr>
            <a:r>
              <a:rPr sz="1700" b="0" i="0">
                <a:solidFill>
                  <a:srgbClr val="3B4658"/>
                </a:solidFill>
                <a:latin typeface="Calibri"/>
              </a:rPr>
              <a:t>Hồ sơ đã duyệt bất biến</a:t>
            </a:r>
          </a:p>
          <a:p>
            <a:pPr algn="l">
              <a:spcAft>
                <a:spcPts val="1000"/>
              </a:spcAft>
            </a:pPr>
            <a:r>
              <a:rPr sz="1700" b="0" i="0">
                <a:solidFill>
                  <a:srgbClr val="3B4658"/>
                </a:solidFill>
                <a:latin typeface="Calibri"/>
              </a:rPr>
              <a:t>Sao lưu mã hóa, thử phục hồi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TÌNH TRẠNG THỰC HIỆN</a:t>
            </a:r>
          </a:p>
        </p:txBody>
      </p:sp>
      <p:sp>
        <p:nvSpPr>
          <p:cNvPr id="3" name="Tiêu đề"/>
          <p:cNvSpPr txBox="1"/>
          <p:nvPr/>
        </p:nvSpPr>
        <p:spPr>
          <a:xfrm>
            <a:off x="548640" y="713232"/>
            <a:ext cx="11094415" cy="10972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Phần mềm đã có lớp ứng dụng và dữ liệu, còn thiếu hạ tầng</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Nguồn: văn bản trả lời yêu cầu 3, mục 5</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18</a:t>
            </a:r>
          </a:p>
        </p:txBody>
      </p:sp>
      <p:sp>
        <p:nvSpPr>
          <p:cNvPr id="6" name="Thẻ"/>
          <p:cNvSpPr/>
          <p:nvPr/>
        </p:nvSpPr>
        <p:spPr>
          <a:xfrm>
            <a:off x="548640" y="2084831"/>
            <a:ext cx="5364327" cy="32461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13432"/>
            <a:ext cx="4907127" cy="329691"/>
          </a:xfrm>
          <a:prstGeom prst="rect">
            <a:avLst/>
          </a:prstGeom>
          <a:noFill/>
        </p:spPr>
        <p:txBody>
          <a:bodyPr wrap="square" anchor="t" lIns="0" rIns="0" tIns="0" bIns="0">
            <a:spAutoFit/>
          </a:bodyPr>
          <a:lstStyle/>
          <a:p>
            <a:pPr algn="l">
              <a:spcAft>
                <a:spcPts val="0"/>
              </a:spcAft>
            </a:pPr>
            <a:r>
              <a:rPr sz="2200" b="1" i="0">
                <a:solidFill>
                  <a:srgbClr val="1F6B4A"/>
                </a:solidFill>
                <a:latin typeface="Calibri"/>
              </a:rPr>
              <a:t>Đã có, đã kiểm thử</a:t>
            </a:r>
          </a:p>
        </p:txBody>
      </p:sp>
      <p:sp>
        <p:nvSpPr>
          <p:cNvPr id="8" name="Nội dung thẻ"/>
          <p:cNvSpPr txBox="1"/>
          <p:nvPr/>
        </p:nvSpPr>
        <p:spPr>
          <a:xfrm>
            <a:off x="777240" y="2734564"/>
            <a:ext cx="4907127" cy="2413508"/>
          </a:xfrm>
          <a:prstGeom prst="rect">
            <a:avLst/>
          </a:prstGeom>
          <a:noFill/>
        </p:spPr>
        <p:txBody>
          <a:bodyPr wrap="square" anchor="t" lIns="0" rIns="0" tIns="0" bIns="0">
            <a:spAutoFit/>
          </a:bodyPr>
          <a:lstStyle/>
          <a:p>
            <a:pPr algn="l">
              <a:spcAft>
                <a:spcPts val="500"/>
              </a:spcAft>
            </a:pPr>
            <a:r>
              <a:rPr sz="1700" b="0" i="0">
                <a:solidFill>
                  <a:srgbClr val="3B4658"/>
                </a:solidFill>
                <a:latin typeface="Calibri"/>
              </a:rPr>
              <a:t>Mật khẩu argon2id, khóa tạm, phiên, TOTP</a:t>
            </a:r>
          </a:p>
          <a:p>
            <a:pPr algn="l">
              <a:spcAft>
                <a:spcPts val="500"/>
              </a:spcAft>
            </a:pPr>
            <a:r>
              <a:rPr sz="1700" b="0" i="0">
                <a:solidFill>
                  <a:srgbClr val="3B4658"/>
                </a:solidFill>
                <a:latin typeface="Calibri"/>
              </a:rPr>
              <a:t>Phân quyền hai tầng, rà soát quyền</a:t>
            </a:r>
          </a:p>
          <a:p>
            <a:pPr algn="l">
              <a:spcAft>
                <a:spcPts val="500"/>
              </a:spcAft>
            </a:pPr>
            <a:r>
              <a:rPr sz="1700" b="0" i="0">
                <a:solidFill>
                  <a:srgbClr val="3B4658"/>
                </a:solidFill>
                <a:latin typeface="Calibri"/>
              </a:rPr>
              <a:t>Nhật ký chuỗi băm, màn hình xem và kiểm tra toàn vẹn</a:t>
            </a:r>
          </a:p>
          <a:p>
            <a:pPr algn="l">
              <a:spcAft>
                <a:spcPts val="500"/>
              </a:spcAft>
            </a:pPr>
            <a:r>
              <a:rPr sz="1700" b="0" i="0">
                <a:solidFill>
                  <a:srgbClr val="3B4658"/>
                </a:solidFill>
                <a:latin typeface="Calibri"/>
              </a:rPr>
              <a:t>Tiêu đề bảo mật HTTP, giới hạn tần suất</a:t>
            </a:r>
          </a:p>
          <a:p>
            <a:pPr algn="l">
              <a:spcAft>
                <a:spcPts val="500"/>
              </a:spcAft>
            </a:pPr>
            <a:r>
              <a:rPr sz="1700" b="0" i="0">
                <a:solidFill>
                  <a:srgbClr val="3B4658"/>
                </a:solidFill>
                <a:latin typeface="Calibri"/>
              </a:rPr>
              <a:t>Hồ sơ bất biến; sao lưu, thử phục hồi</a:t>
            </a:r>
          </a:p>
        </p:txBody>
      </p:sp>
      <p:sp>
        <p:nvSpPr>
          <p:cNvPr id="9" name="Thẻ"/>
          <p:cNvSpPr/>
          <p:nvPr/>
        </p:nvSpPr>
        <p:spPr>
          <a:xfrm>
            <a:off x="6278727" y="2084831"/>
            <a:ext cx="5364327" cy="32461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313432"/>
            <a:ext cx="4907127" cy="329691"/>
          </a:xfrm>
          <a:prstGeom prst="rect">
            <a:avLst/>
          </a:prstGeom>
          <a:noFill/>
        </p:spPr>
        <p:txBody>
          <a:bodyPr wrap="square" anchor="t" lIns="0" rIns="0" tIns="0" bIns="0">
            <a:spAutoFit/>
          </a:bodyPr>
          <a:lstStyle/>
          <a:p>
            <a:pPr algn="l">
              <a:spcAft>
                <a:spcPts val="0"/>
              </a:spcAft>
            </a:pPr>
            <a:r>
              <a:rPr sz="2200" b="1" i="0">
                <a:solidFill>
                  <a:srgbClr val="A4262C"/>
                </a:solidFill>
                <a:latin typeface="Calibri"/>
              </a:rPr>
              <a:t>Chưa có, cần khi triển khai</a:t>
            </a:r>
          </a:p>
        </p:txBody>
      </p:sp>
      <p:sp>
        <p:nvSpPr>
          <p:cNvPr id="11" name="Nội dung thẻ"/>
          <p:cNvSpPr txBox="1"/>
          <p:nvPr/>
        </p:nvSpPr>
        <p:spPr>
          <a:xfrm>
            <a:off x="6507327" y="2734564"/>
            <a:ext cx="4907127" cy="2413508"/>
          </a:xfrm>
          <a:prstGeom prst="rect">
            <a:avLst/>
          </a:prstGeom>
          <a:noFill/>
        </p:spPr>
        <p:txBody>
          <a:bodyPr wrap="square" anchor="t" lIns="0" rIns="0" tIns="0" bIns="0">
            <a:spAutoFit/>
          </a:bodyPr>
          <a:lstStyle/>
          <a:p>
            <a:pPr algn="l">
              <a:spcAft>
                <a:spcPts val="500"/>
              </a:spcAft>
            </a:pPr>
            <a:r>
              <a:rPr sz="1700" b="0" i="0">
                <a:solidFill>
                  <a:srgbClr val="3B4658"/>
                </a:solidFill>
                <a:latin typeface="Calibri"/>
              </a:rPr>
              <a:t>Bật bắt buộc xác thực nhiều lớp</a:t>
            </a:r>
          </a:p>
          <a:p>
            <a:pPr algn="l">
              <a:spcAft>
                <a:spcPts val="500"/>
              </a:spcAft>
            </a:pPr>
            <a:r>
              <a:rPr sz="1700" b="0" i="0">
                <a:solidFill>
                  <a:srgbClr val="3B4658"/>
                </a:solidFill>
                <a:latin typeface="Calibri"/>
              </a:rPr>
              <a:t>TLS, phân vùng mạng, tường lửa, giám sát</a:t>
            </a:r>
          </a:p>
          <a:p>
            <a:pPr algn="l">
              <a:spcAft>
                <a:spcPts val="500"/>
              </a:spcAft>
            </a:pPr>
            <a:r>
              <a:rPr sz="1700" b="0" i="0">
                <a:solidFill>
                  <a:srgbClr val="3B4658"/>
                </a:solidFill>
                <a:latin typeface="Calibri"/>
              </a:rPr>
              <a:t>Mã hóa khi lưu; lịch sao lưu</a:t>
            </a:r>
          </a:p>
          <a:p>
            <a:pPr algn="l">
              <a:spcAft>
                <a:spcPts val="500"/>
              </a:spcAft>
            </a:pPr>
            <a:r>
              <a:rPr sz="1700" b="0" i="0">
                <a:solidFill>
                  <a:srgbClr val="3B4658"/>
                </a:solidFill>
                <a:latin typeface="Calibri"/>
              </a:rPr>
              <a:t>Thu quyền sửa nhật ký của tài khoản CSDL, neo mã băm</a:t>
            </a:r>
          </a:p>
          <a:p>
            <a:pPr algn="l">
              <a:spcAft>
                <a:spcPts val="500"/>
              </a:spcAft>
            </a:pPr>
            <a:r>
              <a:rPr sz="1700" b="0" i="0">
                <a:solidFill>
                  <a:srgbClr val="3B4658"/>
                </a:solidFill>
                <a:latin typeface="Calibri"/>
              </a:rPr>
              <a:t>Quét mã độc, quét lỗ hổng, quy trình ứng cứu</a:t>
            </a:r>
          </a:p>
        </p:txBody>
      </p:sp>
      <p:sp>
        <p:nvSpPr>
          <p:cNvPr id="12" name="TextBox 11"/>
          <p:cNvSpPr txBox="1"/>
          <p:nvPr/>
        </p:nvSpPr>
        <p:spPr>
          <a:xfrm>
            <a:off x="548640" y="5559552"/>
            <a:ext cx="11094415" cy="640080"/>
          </a:xfrm>
          <a:prstGeom prst="rect">
            <a:avLst/>
          </a:prstGeom>
          <a:noFill/>
        </p:spPr>
        <p:txBody>
          <a:bodyPr wrap="square" anchor="t" lIns="0" rIns="0" tIns="0" bIns="0">
            <a:spAutoFit/>
          </a:bodyPr>
          <a:lstStyle/>
          <a:p>
            <a:pPr algn="l">
              <a:spcAft>
                <a:spcPts val="0"/>
              </a:spcAft>
            </a:pPr>
            <a:r>
              <a:rPr sz="1700" b="0" i="0">
                <a:solidFill>
                  <a:srgbClr val="3B4658"/>
                </a:solidFill>
                <a:latin typeface="Calibri"/>
              </a:rPr>
              <a:t>Kiểm thử: 898 test đơn vị và 172 test end-to-end trên cơ sở dữ liệu thật đều đạt; cấu hình sau proxy Nginx thật đã kiểm; sao lưu và phục hồi đã chạy thử trên dữ liệu của dự án.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BÍ MẬT NHÀ NƯỚC VÀ TRÍ TUỆ NHÂN TẠO</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Không đưa nội dung bí mật nhà nước vào hệ thống</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Căn cứ: Nghị định 63/2026/NĐ-CP Điều 5.8, 6 · Quy định 342 Điều 21.6, 23</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19</a:t>
            </a:r>
          </a:p>
        </p:txBody>
      </p:sp>
      <p:sp>
        <p:nvSpPr>
          <p:cNvPr id="6" name="Thẻ"/>
          <p:cNvSpPr/>
          <p:nvPr/>
        </p:nvSpPr>
        <p:spPr>
          <a:xfrm>
            <a:off x="548640" y="1627632"/>
            <a:ext cx="640080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5943600" cy="329691"/>
          </a:xfrm>
          <a:prstGeom prst="rect">
            <a:avLst/>
          </a:prstGeom>
          <a:noFill/>
        </p:spPr>
        <p:txBody>
          <a:bodyPr wrap="square" anchor="t" lIns="0" rIns="0" tIns="0" bIns="0">
            <a:spAutoFit/>
          </a:bodyPr>
          <a:lstStyle/>
          <a:p>
            <a:pPr algn="l">
              <a:spcAft>
                <a:spcPts val="0"/>
              </a:spcAft>
            </a:pPr>
            <a:r>
              <a:rPr sz="2200" b="1" i="0">
                <a:solidFill>
                  <a:srgbClr val="17233A"/>
                </a:solidFill>
                <a:latin typeface="Calibri"/>
              </a:rPr>
              <a:t>Nguyên tắc và biện pháp</a:t>
            </a:r>
          </a:p>
        </p:txBody>
      </p:sp>
      <p:sp>
        <p:nvSpPr>
          <p:cNvPr id="8" name="Nội dung thẻ"/>
          <p:cNvSpPr txBox="1"/>
          <p:nvPr/>
        </p:nvSpPr>
        <p:spPr>
          <a:xfrm>
            <a:off x="777240" y="2277364"/>
            <a:ext cx="5943600" cy="3007868"/>
          </a:xfrm>
          <a:prstGeom prst="rect">
            <a:avLst/>
          </a:prstGeom>
          <a:noFill/>
        </p:spPr>
        <p:txBody>
          <a:bodyPr wrap="square" anchor="t" lIns="0" rIns="0" tIns="0" bIns="0">
            <a:spAutoFit/>
          </a:bodyPr>
          <a:lstStyle/>
          <a:p>
            <a:pPr algn="l">
              <a:spcAft>
                <a:spcPts val="800"/>
              </a:spcAft>
            </a:pPr>
            <a:r>
              <a:rPr sz="1700" b="0" i="0">
                <a:solidFill>
                  <a:srgbClr val="3B4658"/>
                </a:solidFill>
                <a:latin typeface="Calibri"/>
              </a:rPr>
              <a:t>Máy tính gửi, nhận, đăng ký tài liệu mật không được nối Internet, mà hệ thống này nối mạng, nên không xử lý nội dung mật.</a:t>
            </a:r>
          </a:p>
          <a:p>
            <a:pPr algn="l">
              <a:spcAft>
                <a:spcPts val="800"/>
              </a:spcAft>
            </a:pPr>
            <a:r>
              <a:rPr sz="1700" b="0" i="0">
                <a:solidFill>
                  <a:srgbClr val="3B4658"/>
                </a:solidFill>
                <a:latin typeface="Calibri"/>
              </a:rPr>
              <a:t>Việc liên quan văn bản mật chỉ ghi số lượng và kết quả, không lưu nội dung, trích yếu hay tệp.</a:t>
            </a:r>
          </a:p>
          <a:p>
            <a:pPr algn="l">
              <a:spcAft>
                <a:spcPts val="800"/>
              </a:spcAft>
            </a:pPr>
            <a:r>
              <a:rPr sz="1700" b="0" i="0">
                <a:solidFill>
                  <a:srgbClr val="3B4658"/>
                </a:solidFill>
                <a:latin typeface="Calibri"/>
              </a:rPr>
              <a:t>Cảnh báo ở ô văn bản và ô tải tệp; tập huấn người dùng.</a:t>
            </a:r>
          </a:p>
          <a:p>
            <a:pPr algn="l">
              <a:spcAft>
                <a:spcPts val="800"/>
              </a:spcAft>
            </a:pPr>
            <a:r>
              <a:rPr sz="1700" b="0" i="0">
                <a:solidFill>
                  <a:srgbClr val="3B4658"/>
                </a:solidFill>
                <a:latin typeface="Calibri"/>
              </a:rPr>
              <a:t>Chưa làm: chặn đính kèm cho việc có nhãn mật, kiểm tra từ khóa độ mật.</a:t>
            </a:r>
          </a:p>
        </p:txBody>
      </p:sp>
      <p:sp>
        <p:nvSpPr>
          <p:cNvPr id="9" name="Thẻ"/>
          <p:cNvSpPr/>
          <p:nvPr/>
        </p:nvSpPr>
        <p:spPr>
          <a:xfrm>
            <a:off x="7223759" y="1627632"/>
            <a:ext cx="4419295" cy="3840480"/>
          </a:xfrm>
          <a:prstGeom prst="roundRect">
            <a:avLst>
              <a:gd name="adj" fmla="val 6000"/>
            </a:avLst>
          </a:prstGeom>
          <a:solidFill>
            <a:srgbClr val="17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59" y="1856232"/>
            <a:ext cx="3962095" cy="329691"/>
          </a:xfrm>
          <a:prstGeom prst="rect">
            <a:avLst/>
          </a:prstGeom>
          <a:noFill/>
        </p:spPr>
        <p:txBody>
          <a:bodyPr wrap="square" anchor="t" lIns="0" rIns="0" tIns="0" bIns="0">
            <a:spAutoFit/>
          </a:bodyPr>
          <a:lstStyle/>
          <a:p>
            <a:pPr algn="l">
              <a:spcAft>
                <a:spcPts val="0"/>
              </a:spcAft>
            </a:pPr>
            <a:r>
              <a:rPr sz="2200" b="1" i="0">
                <a:solidFill>
                  <a:srgbClr val="E3B04B"/>
                </a:solidFill>
                <a:latin typeface="Calibri"/>
              </a:rPr>
              <a:t>Khi cần xử lý nội dung mật</a:t>
            </a:r>
          </a:p>
        </p:txBody>
      </p:sp>
      <p:sp>
        <p:nvSpPr>
          <p:cNvPr id="11" name="Nội dung thẻ"/>
          <p:cNvSpPr txBox="1"/>
          <p:nvPr/>
        </p:nvSpPr>
        <p:spPr>
          <a:xfrm>
            <a:off x="7452359" y="2277364"/>
            <a:ext cx="3962095" cy="3007868"/>
          </a:xfrm>
          <a:prstGeom prst="rect">
            <a:avLst/>
          </a:prstGeom>
          <a:noFill/>
        </p:spPr>
        <p:txBody>
          <a:bodyPr wrap="square" anchor="t" lIns="0" rIns="0" tIns="0" bIns="0">
            <a:spAutoFit/>
          </a:bodyPr>
          <a:lstStyle/>
          <a:p>
            <a:pPr algn="l">
              <a:spcAft>
                <a:spcPts val="1000"/>
              </a:spcAft>
            </a:pPr>
            <a:r>
              <a:rPr sz="1700" b="0" i="0">
                <a:solidFill>
                  <a:srgbClr val="DCE4EE"/>
                </a:solidFill>
                <a:latin typeface="Calibri"/>
              </a:rPr>
              <a:t>Xây hệ thống riêng, không nối Internet, dùng mật mã cơ yếu, xác định lại cấp độ.</a:t>
            </a:r>
          </a:p>
          <a:p>
            <a:pPr algn="l">
              <a:spcAft>
                <a:spcPts val="1000"/>
              </a:spcAft>
            </a:pPr>
            <a:r>
              <a:rPr sz="1700" b="1" i="0">
                <a:solidFill>
                  <a:srgbClr val="DCE4EE"/>
                </a:solidFill>
                <a:latin typeface="Calibri"/>
              </a:rPr>
              <a:t>Trí tuệ nhân tạo:</a:t>
            </a:r>
            <a:r>
              <a:rPr sz="1700" b="0" i="0">
                <a:solidFill>
                  <a:srgbClr val="DCE4EE"/>
                </a:solidFill>
                <a:latin typeface="Calibri"/>
              </a:rPr>
              <a:t> dự thảo báo cáo là mẫu điền số liệu, không dùng AI; không gửi dữ liệu cán bộ ra dịch vụ AI công cộng.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LỘ TRÌNH TRƯỚC KHI VẬN HÀNH</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Tám việc, năm việc bắt buộc</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Nguồn: văn bản trả lời yêu cầu 3, mục 6 · Mẫu cấu hình Nginx kèm theo văn bản</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20</a:t>
            </a:r>
          </a:p>
        </p:txBody>
      </p:sp>
      <p:graphicFrame>
        <p:nvGraphicFramePr>
          <p:cNvPr id="6" name="Bảng"/>
          <p:cNvGraphicFramePr>
            <a:graphicFrameLocks noGrp="1"/>
          </p:cNvGraphicFramePr>
          <p:nvPr/>
        </p:nvGraphicFramePr>
        <p:xfrm>
          <a:off x="548640" y="1490472"/>
          <a:ext cx="11094414" cy="3864348"/>
        </p:xfrm>
        <a:graphic>
          <a:graphicData uri="http://schemas.openxmlformats.org/drawingml/2006/table">
            <a:tbl>
              <a:tblPr firstRow="1" bandRow="1">
                <a:tableStyleId>{5C22544A-7EE6-4342-B048-85BDC9FD1C3A}</a:tableStyleId>
              </a:tblPr>
              <a:tblGrid>
                <a:gridCol w="550136"/>
                <a:gridCol w="7335150"/>
                <a:gridCol w="3209128"/>
              </a:tblGrid>
              <a:tr h="401065">
                <a:tc>
                  <a:txBody>
                    <a:bodyPr wrap="square"/>
                    <a:lstStyle/>
                    <a:p>
                      <a:r>
                        <a:rPr sz="1700" b="1" i="0">
                          <a:solidFill>
                            <a:srgbClr val="FFFFFF"/>
                          </a:solidFill>
                          <a:latin typeface="Calibri"/>
                        </a:rPr>
                        <a:t>#</a:t>
                      </a:r>
                    </a:p>
                  </a:txBody>
                  <a:tcPr marL="91440" marR="91440" marT="45720" marB="45720" anchor="ctr">
                    <a:solidFill>
                      <a:srgbClr val="17233A"/>
                    </a:solidFill>
                  </a:tcPr>
                </a:tc>
                <a:tc>
                  <a:txBody>
                    <a:bodyPr wrap="square"/>
                    <a:lstStyle/>
                    <a:p>
                      <a:r>
                        <a:rPr sz="1700" b="1" i="0">
                          <a:solidFill>
                            <a:srgbClr val="FFFFFF"/>
                          </a:solidFill>
                          <a:latin typeface="Calibri"/>
                        </a:rPr>
                        <a:t>Việc</a:t>
                      </a:r>
                    </a:p>
                  </a:txBody>
                  <a:tcPr marL="91440" marR="91440" marT="45720" marB="45720" anchor="ctr">
                    <a:solidFill>
                      <a:srgbClr val="17233A"/>
                    </a:solidFill>
                  </a:tcPr>
                </a:tc>
                <a:tc>
                  <a:txBody>
                    <a:bodyPr wrap="square"/>
                    <a:lstStyle/>
                    <a:p>
                      <a:r>
                        <a:rPr sz="1700" b="1" i="0">
                          <a:solidFill>
                            <a:srgbClr val="FFFFFF"/>
                          </a:solidFill>
                          <a:latin typeface="Calibri"/>
                        </a:rPr>
                        <a:t>Mức độ</a:t>
                      </a:r>
                    </a:p>
                  </a:txBody>
                  <a:tcPr marL="91440" marR="91440" marT="45720" marB="45720" anchor="ctr">
                    <a:solidFill>
                      <a:srgbClr val="17233A"/>
                    </a:solidFill>
                  </a:tcPr>
                </a:tc>
              </a:tr>
              <a:tr h="401065">
                <a:tc>
                  <a:txBody>
                    <a:bodyPr wrap="square"/>
                    <a:lstStyle/>
                    <a:p>
                      <a:r>
                        <a:rPr sz="1700" b="0" i="0">
                          <a:solidFill>
                            <a:srgbClr val="17233A"/>
                          </a:solidFill>
                          <a:latin typeface="Calibri"/>
                        </a:rPr>
                        <a:t>1</a:t>
                      </a:r>
                    </a:p>
                  </a:txBody>
                  <a:tcPr marL="91440" marR="91440" marT="45720" marB="45720" anchor="ctr">
                    <a:solidFill>
                      <a:srgbClr val="FFFFFF"/>
                    </a:solidFill>
                  </a:tcPr>
                </a:tc>
                <a:tc>
                  <a:txBody>
                    <a:bodyPr wrap="square"/>
                    <a:lstStyle/>
                    <a:p>
                      <a:r>
                        <a:rPr sz="1700" b="0" i="0">
                          <a:solidFill>
                            <a:srgbClr val="17233A"/>
                          </a:solidFill>
                          <a:latin typeface="Calibri"/>
                        </a:rPr>
                        <a:t>Xác thực nhiều lớp (mã đã có) cho quản trị và Ban Thường vụ</a:t>
                      </a:r>
                    </a:p>
                  </a:txBody>
                  <a:tcPr marL="91440" marR="91440" marT="45720" marB="45720" anchor="ctr">
                    <a:solidFill>
                      <a:srgbClr val="FFFFFF"/>
                    </a:solidFill>
                  </a:tcPr>
                </a:tc>
                <a:tc>
                  <a:txBody>
                    <a:bodyPr wrap="square"/>
                    <a:lstStyle/>
                    <a:p>
                      <a:r>
                        <a:rPr sz="1700" b="0" i="0">
                          <a:solidFill>
                            <a:srgbClr val="17233A"/>
                          </a:solidFill>
                          <a:latin typeface="Calibri"/>
                        </a:rPr>
                        <a:t>Bắt buộc với cấp 3</a:t>
                      </a:r>
                    </a:p>
                  </a:txBody>
                  <a:tcPr marL="91440" marR="91440" marT="45720" marB="45720" anchor="ctr">
                    <a:solidFill>
                      <a:srgbClr val="FFFFFF"/>
                    </a:solidFill>
                  </a:tcPr>
                </a:tc>
              </a:tr>
              <a:tr h="401065">
                <a:tc>
                  <a:txBody>
                    <a:bodyPr wrap="square"/>
                    <a:lstStyle/>
                    <a:p>
                      <a:r>
                        <a:rPr sz="1700" b="0" i="0">
                          <a:solidFill>
                            <a:srgbClr val="17233A"/>
                          </a:solidFill>
                          <a:latin typeface="Calibri"/>
                        </a:rPr>
                        <a:t>2</a:t>
                      </a:r>
                    </a:p>
                  </a:txBody>
                  <a:tcPr marL="91440" marR="91440" marT="45720" marB="45720" anchor="ctr">
                    <a:solidFill>
                      <a:srgbClr val="F3F5F8"/>
                    </a:solidFill>
                  </a:tcPr>
                </a:tc>
                <a:tc>
                  <a:txBody>
                    <a:bodyPr wrap="square"/>
                    <a:lstStyle/>
                    <a:p>
                      <a:r>
                        <a:rPr sz="1700" b="0" i="0">
                          <a:solidFill>
                            <a:srgbClr val="17233A"/>
                          </a:solidFill>
                          <a:latin typeface="Calibri"/>
                        </a:rPr>
                        <a:t>TLS, cờ Secure, TRUST_PROXY sau proxy</a:t>
                      </a:r>
                    </a:p>
                  </a:txBody>
                  <a:tcPr marL="91440" marR="91440" marT="45720" marB="45720" anchor="ctr">
                    <a:solidFill>
                      <a:srgbClr val="F3F5F8"/>
                    </a:solidFill>
                  </a:tcPr>
                </a:tc>
                <a:tc>
                  <a:txBody>
                    <a:bodyPr wrap="square"/>
                    <a:lstStyle/>
                    <a:p>
                      <a:r>
                        <a:rPr sz="1700" b="0" i="0">
                          <a:solidFill>
                            <a:srgbClr val="17233A"/>
                          </a:solidFill>
                          <a:latin typeface="Calibri"/>
                        </a:rPr>
                        <a:t>Bắt buộc</a:t>
                      </a:r>
                    </a:p>
                  </a:txBody>
                  <a:tcPr marL="91440" marR="91440" marT="45720" marB="45720" anchor="ctr">
                    <a:solidFill>
                      <a:srgbClr val="F3F5F8"/>
                    </a:solidFill>
                  </a:tcPr>
                </a:tc>
              </a:tr>
              <a:tr h="401065">
                <a:tc>
                  <a:txBody>
                    <a:bodyPr wrap="square"/>
                    <a:lstStyle/>
                    <a:p>
                      <a:r>
                        <a:rPr sz="1700" b="0" i="0">
                          <a:solidFill>
                            <a:srgbClr val="17233A"/>
                          </a:solidFill>
                          <a:latin typeface="Calibri"/>
                        </a:rPr>
                        <a:t>3</a:t>
                      </a:r>
                    </a:p>
                  </a:txBody>
                  <a:tcPr marL="91440" marR="91440" marT="45720" marB="45720" anchor="ctr">
                    <a:solidFill>
                      <a:srgbClr val="FFFFFF"/>
                    </a:solidFill>
                  </a:tcPr>
                </a:tc>
                <a:tc>
                  <a:txBody>
                    <a:bodyPr wrap="square"/>
                    <a:lstStyle/>
                    <a:p>
                      <a:r>
                        <a:rPr sz="1700" b="0" i="0">
                          <a:solidFill>
                            <a:srgbClr val="17233A"/>
                          </a:solidFill>
                          <a:latin typeface="Calibri"/>
                        </a:rPr>
                        <a:t>Tách tài khoản CSDL, neo mã băm nhật ký</a:t>
                      </a:r>
                    </a:p>
                  </a:txBody>
                  <a:tcPr marL="91440" marR="91440" marT="45720" marB="45720" anchor="ctr">
                    <a:solidFill>
                      <a:srgbClr val="FFFFFF"/>
                    </a:solidFill>
                  </a:tcPr>
                </a:tc>
                <a:tc>
                  <a:txBody>
                    <a:bodyPr wrap="square"/>
                    <a:lstStyle/>
                    <a:p>
                      <a:r>
                        <a:rPr sz="1700" b="0" i="0">
                          <a:solidFill>
                            <a:srgbClr val="17233A"/>
                          </a:solidFill>
                          <a:latin typeface="Calibri"/>
                        </a:rPr>
                        <a:t>Bắt buộc</a:t>
                      </a:r>
                    </a:p>
                  </a:txBody>
                  <a:tcPr marL="91440" marR="91440" marT="45720" marB="45720" anchor="ctr">
                    <a:solidFill>
                      <a:srgbClr val="FFFFFF"/>
                    </a:solidFill>
                  </a:tcPr>
                </a:tc>
              </a:tr>
              <a:tr h="401065">
                <a:tc>
                  <a:txBody>
                    <a:bodyPr wrap="square"/>
                    <a:lstStyle/>
                    <a:p>
                      <a:r>
                        <a:rPr sz="1700" b="0" i="0">
                          <a:solidFill>
                            <a:srgbClr val="17233A"/>
                          </a:solidFill>
                          <a:latin typeface="Calibri"/>
                        </a:rPr>
                        <a:t>4</a:t>
                      </a:r>
                    </a:p>
                  </a:txBody>
                  <a:tcPr marL="91440" marR="91440" marT="45720" marB="45720" anchor="ctr">
                    <a:solidFill>
                      <a:srgbClr val="F3F5F8"/>
                    </a:solidFill>
                  </a:tcPr>
                </a:tc>
                <a:tc>
                  <a:txBody>
                    <a:bodyPr wrap="square"/>
                    <a:lstStyle/>
                    <a:p>
                      <a:r>
                        <a:rPr sz="1700" b="0" i="0">
                          <a:solidFill>
                            <a:srgbClr val="17233A"/>
                          </a:solidFill>
                          <a:latin typeface="Calibri"/>
                        </a:rPr>
                        <a:t>Sao lưu tự động, thử phục hồi (công cụ đã có; cần đặt lịch)</a:t>
                      </a:r>
                    </a:p>
                  </a:txBody>
                  <a:tcPr marL="91440" marR="91440" marT="45720" marB="45720" anchor="ctr">
                    <a:solidFill>
                      <a:srgbClr val="F3F5F8"/>
                    </a:solidFill>
                  </a:tcPr>
                </a:tc>
                <a:tc>
                  <a:txBody>
                    <a:bodyPr wrap="square"/>
                    <a:lstStyle/>
                    <a:p>
                      <a:r>
                        <a:rPr sz="1700" b="0" i="0">
                          <a:solidFill>
                            <a:srgbClr val="17233A"/>
                          </a:solidFill>
                          <a:latin typeface="Calibri"/>
                        </a:rPr>
                        <a:t>Bắt buộc</a:t>
                      </a:r>
                    </a:p>
                  </a:txBody>
                  <a:tcPr marL="91440" marR="91440" marT="45720" marB="45720" anchor="ctr">
                    <a:solidFill>
                      <a:srgbClr val="F3F5F8"/>
                    </a:solidFill>
                  </a:tcPr>
                </a:tc>
              </a:tr>
              <a:tr h="401065">
                <a:tc>
                  <a:txBody>
                    <a:bodyPr wrap="square"/>
                    <a:lstStyle/>
                    <a:p>
                      <a:r>
                        <a:rPr sz="1700" b="0" i="0">
                          <a:solidFill>
                            <a:srgbClr val="17233A"/>
                          </a:solidFill>
                          <a:latin typeface="Calibri"/>
                        </a:rPr>
                        <a:t>5</a:t>
                      </a:r>
                    </a:p>
                  </a:txBody>
                  <a:tcPr marL="91440" marR="91440" marT="45720" marB="45720" anchor="ctr">
                    <a:solidFill>
                      <a:srgbClr val="FFFFFF"/>
                    </a:solidFill>
                  </a:tcPr>
                </a:tc>
                <a:tc>
                  <a:txBody>
                    <a:bodyPr wrap="square"/>
                    <a:lstStyle/>
                    <a:p>
                      <a:r>
                        <a:rPr sz="1700" b="0" i="0">
                          <a:solidFill>
                            <a:srgbClr val="17233A"/>
                          </a:solidFill>
                          <a:latin typeface="Calibri"/>
                        </a:rPr>
                        <a:t>Mã hóa khi lưu: CSDL, số định danh, kho tệp</a:t>
                      </a:r>
                    </a:p>
                  </a:txBody>
                  <a:tcPr marL="91440" marR="91440" marT="45720" marB="45720" anchor="ctr">
                    <a:solidFill>
                      <a:srgbClr val="FFFFFF"/>
                    </a:solidFill>
                  </a:tcPr>
                </a:tc>
                <a:tc>
                  <a:txBody>
                    <a:bodyPr wrap="square"/>
                    <a:lstStyle/>
                    <a:p>
                      <a:r>
                        <a:rPr sz="1700" b="0" i="0">
                          <a:solidFill>
                            <a:srgbClr val="17233A"/>
                          </a:solidFill>
                          <a:latin typeface="Calibri"/>
                        </a:rPr>
                        <a:t>Bắt buộc</a:t>
                      </a:r>
                    </a:p>
                  </a:txBody>
                  <a:tcPr marL="91440" marR="91440" marT="45720" marB="45720" anchor="ctr">
                    <a:solidFill>
                      <a:srgbClr val="FFFFFF"/>
                    </a:solidFill>
                  </a:tcPr>
                </a:tc>
              </a:tr>
              <a:tr h="401065">
                <a:tc>
                  <a:txBody>
                    <a:bodyPr wrap="square"/>
                    <a:lstStyle/>
                    <a:p>
                      <a:r>
                        <a:rPr sz="1700" b="0" i="0">
                          <a:solidFill>
                            <a:srgbClr val="17233A"/>
                          </a:solidFill>
                          <a:latin typeface="Calibri"/>
                        </a:rPr>
                        <a:t>6</a:t>
                      </a:r>
                    </a:p>
                  </a:txBody>
                  <a:tcPr marL="91440" marR="91440" marT="45720" marB="45720" anchor="ctr">
                    <a:solidFill>
                      <a:srgbClr val="F3F5F8"/>
                    </a:solidFill>
                  </a:tcPr>
                </a:tc>
                <a:tc>
                  <a:txBody>
                    <a:bodyPr wrap="square"/>
                    <a:lstStyle/>
                    <a:p>
                      <a:r>
                        <a:rPr sz="1700" b="0" i="0">
                          <a:solidFill>
                            <a:srgbClr val="17233A"/>
                          </a:solidFill>
                          <a:latin typeface="Calibri"/>
                        </a:rPr>
                        <a:t>Rà soát quyền định kỳ (màn hình đã có; cần đặt lịch)</a:t>
                      </a:r>
                    </a:p>
                  </a:txBody>
                  <a:tcPr marL="91440" marR="91440" marT="45720" marB="45720" anchor="ctr">
                    <a:solidFill>
                      <a:srgbClr val="F3F5F8"/>
                    </a:solidFill>
                  </a:tcPr>
                </a:tc>
                <a:tc>
                  <a:txBody>
                    <a:bodyPr wrap="square"/>
                    <a:lstStyle/>
                    <a:p>
                      <a:r>
                        <a:rPr sz="1700" b="0" i="0">
                          <a:solidFill>
                            <a:srgbClr val="17233A"/>
                          </a:solidFill>
                          <a:latin typeface="Calibri"/>
                        </a:rPr>
                        <a:t>Nên có</a:t>
                      </a:r>
                    </a:p>
                  </a:txBody>
                  <a:tcPr marL="91440" marR="91440" marT="45720" marB="45720" anchor="ctr">
                    <a:solidFill>
                      <a:srgbClr val="F3F5F8"/>
                    </a:solidFill>
                  </a:tcPr>
                </a:tc>
              </a:tr>
              <a:tr h="401065">
                <a:tc>
                  <a:txBody>
                    <a:bodyPr wrap="square"/>
                    <a:lstStyle/>
                    <a:p>
                      <a:r>
                        <a:rPr sz="1700" b="0" i="0">
                          <a:solidFill>
                            <a:srgbClr val="17233A"/>
                          </a:solidFill>
                          <a:latin typeface="Calibri"/>
                        </a:rPr>
                        <a:t>7</a:t>
                      </a:r>
                    </a:p>
                  </a:txBody>
                  <a:tcPr marL="91440" marR="91440" marT="45720" marB="45720" anchor="ctr">
                    <a:solidFill>
                      <a:srgbClr val="FFFFFF"/>
                    </a:solidFill>
                  </a:tcPr>
                </a:tc>
                <a:tc>
                  <a:txBody>
                    <a:bodyPr wrap="square"/>
                    <a:lstStyle/>
                    <a:p>
                      <a:r>
                        <a:rPr sz="1700" b="0" i="0">
                          <a:solidFill>
                            <a:srgbClr val="17233A"/>
                          </a:solidFill>
                          <a:latin typeface="Calibri"/>
                        </a:rPr>
                        <a:t>Chặn đính kèm việc có nhãn mật; quét mã độc tệp</a:t>
                      </a:r>
                    </a:p>
                  </a:txBody>
                  <a:tcPr marL="91440" marR="91440" marT="45720" marB="45720" anchor="ctr">
                    <a:solidFill>
                      <a:srgbClr val="FFFFFF"/>
                    </a:solidFill>
                  </a:tcPr>
                </a:tc>
                <a:tc>
                  <a:txBody>
                    <a:bodyPr wrap="square"/>
                    <a:lstStyle/>
                    <a:p>
                      <a:r>
                        <a:rPr sz="1700" b="0" i="0">
                          <a:solidFill>
                            <a:srgbClr val="17233A"/>
                          </a:solidFill>
                          <a:latin typeface="Calibri"/>
                        </a:rPr>
                        <a:t>Nên có</a:t>
                      </a:r>
                    </a:p>
                  </a:txBody>
                  <a:tcPr marL="91440" marR="91440" marT="45720" marB="45720" anchor="ctr">
                    <a:solidFill>
                      <a:srgbClr val="FFFFFF"/>
                    </a:solidFill>
                  </a:tcPr>
                </a:tc>
              </a:tr>
              <a:tr h="655828">
                <a:tc>
                  <a:txBody>
                    <a:bodyPr wrap="square"/>
                    <a:lstStyle/>
                    <a:p>
                      <a:r>
                        <a:rPr sz="1700" b="0" i="0">
                          <a:solidFill>
                            <a:srgbClr val="17233A"/>
                          </a:solidFill>
                          <a:latin typeface="Calibri"/>
                        </a:rPr>
                        <a:t>8</a:t>
                      </a:r>
                    </a:p>
                  </a:txBody>
                  <a:tcPr marL="91440" marR="91440" marT="45720" marB="45720" anchor="ctr">
                    <a:solidFill>
                      <a:srgbClr val="F3F5F8"/>
                    </a:solidFill>
                  </a:tcPr>
                </a:tc>
                <a:tc>
                  <a:txBody>
                    <a:bodyPr wrap="square"/>
                    <a:lstStyle/>
                    <a:p>
                      <a:r>
                        <a:rPr sz="1700" b="0" i="0">
                          <a:solidFill>
                            <a:srgbClr val="17233A"/>
                          </a:solidFill>
                          <a:latin typeface="Calibri"/>
                        </a:rPr>
                        <a:t>Giám sát, ứng cứu, diễn tập, kiểm thử xâm nhập, hoàn thiện hồ sơ cấp độ</a:t>
                      </a:r>
                    </a:p>
                  </a:txBody>
                  <a:tcPr marL="91440" marR="91440" marT="45720" marB="45720" anchor="ctr">
                    <a:solidFill>
                      <a:srgbClr val="F3F5F8"/>
                    </a:solidFill>
                  </a:tcPr>
                </a:tc>
                <a:tc>
                  <a:txBody>
                    <a:bodyPr wrap="square"/>
                    <a:lstStyle/>
                    <a:p>
                      <a:r>
                        <a:rPr sz="1700" b="0" i="0">
                          <a:solidFill>
                            <a:srgbClr val="17233A"/>
                          </a:solidFill>
                          <a:latin typeface="Calibri"/>
                        </a:rPr>
                        <a:t>Bắt buộc trước khi kết nối Trung ương</a:t>
                      </a:r>
                    </a:p>
                  </a:txBody>
                  <a:tcPr marL="91440" marR="91440" marT="45720" marB="45720" anchor="ctr">
                    <a:solidFill>
                      <a:srgbClr val="F3F5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Nhãn mục"/>
          <p:cNvSpPr txBox="1"/>
          <p:nvPr/>
        </p:nvSpPr>
        <p:spPr>
          <a:xfrm>
            <a:off x="548640" y="384048"/>
            <a:ext cx="11094415" cy="274320"/>
          </a:xfrm>
          <a:prstGeom prst="rect">
            <a:avLst/>
          </a:prstGeom>
          <a:noFill/>
        </p:spPr>
        <p:txBody>
          <a:bodyPr wrap="square" anchor="t" lIns="0" rIns="0" tIns="0" bIns="0">
            <a:spAutoFit/>
          </a:bodyPr>
          <a:lstStyle/>
          <a:p>
            <a:pPr algn="l">
              <a:spcAft>
                <a:spcPts val="0"/>
              </a:spcAft>
            </a:pPr>
            <a:r>
              <a:rPr sz="1200" b="1" i="0">
                <a:solidFill>
                  <a:srgbClr val="A4262C"/>
                </a:solidFill>
                <a:latin typeface="Calibri"/>
              </a:rPr>
              <a:t>YÊU CẦU 3 · CẦN XÁC NHẬN</a:t>
            </a:r>
          </a:p>
        </p:txBody>
      </p:sp>
      <p:sp>
        <p:nvSpPr>
          <p:cNvPr id="3" name="Tiêu đề"/>
          <p:cNvSpPr txBox="1"/>
          <p:nvPr/>
        </p:nvSpPr>
        <p:spPr>
          <a:xfrm>
            <a:off x="548640" y="713232"/>
            <a:ext cx="11094415" cy="640080"/>
          </a:xfrm>
          <a:prstGeom prst="rect">
            <a:avLst/>
          </a:prstGeom>
          <a:noFill/>
        </p:spPr>
        <p:txBody>
          <a:bodyPr wrap="square" anchor="t" lIns="0" rIns="0" tIns="0" bIns="0">
            <a:spAutoFit/>
          </a:bodyPr>
          <a:lstStyle/>
          <a:p>
            <a:pPr algn="l">
              <a:spcAft>
                <a:spcPts val="0"/>
              </a:spcAft>
            </a:pPr>
            <a:r>
              <a:rPr sz="3200" b="1" i="0">
                <a:solidFill>
                  <a:srgbClr val="17233A"/>
                </a:solidFill>
                <a:latin typeface="Cambria"/>
              </a:rPr>
              <a:t>Năm điểm cần xác nhận và đề xuất mặc định</a:t>
            </a:r>
          </a:p>
        </p:txBody>
      </p:sp>
      <p:sp>
        <p:nvSpPr>
          <p:cNvPr id="4" name="Nguồn"/>
          <p:cNvSpPr txBox="1"/>
          <p:nvPr/>
        </p:nvSpPr>
        <p:spPr>
          <a:xfrm>
            <a:off x="548640" y="6382512"/>
            <a:ext cx="10180015" cy="274320"/>
          </a:xfrm>
          <a:prstGeom prst="rect">
            <a:avLst/>
          </a:prstGeom>
          <a:noFill/>
        </p:spPr>
        <p:txBody>
          <a:bodyPr wrap="square" anchor="t" lIns="0" rIns="0" tIns="0" bIns="0">
            <a:spAutoFit/>
          </a:bodyPr>
          <a:lstStyle/>
          <a:p>
            <a:pPr algn="l">
              <a:spcAft>
                <a:spcPts val="0"/>
              </a:spcAft>
            </a:pPr>
            <a:r>
              <a:rPr sz="1100" b="0" i="0">
                <a:solidFill>
                  <a:srgbClr val="5D687A"/>
                </a:solidFill>
                <a:latin typeface="Calibri"/>
              </a:rPr>
              <a:t>Chi tiết: văn bản trả lời yêu cầu 3, mục 7</a:t>
            </a:r>
          </a:p>
        </p:txBody>
      </p:sp>
      <p:sp>
        <p:nvSpPr>
          <p:cNvPr id="5" name="Số trang"/>
          <p:cNvSpPr txBox="1"/>
          <p:nvPr/>
        </p:nvSpPr>
        <p:spPr>
          <a:xfrm>
            <a:off x="10911535" y="6382512"/>
            <a:ext cx="731520" cy="274320"/>
          </a:xfrm>
          <a:prstGeom prst="rect">
            <a:avLst/>
          </a:prstGeom>
          <a:noFill/>
        </p:spPr>
        <p:txBody>
          <a:bodyPr wrap="square" anchor="t" lIns="0" rIns="0" tIns="0" bIns="0">
            <a:spAutoFit/>
          </a:bodyPr>
          <a:lstStyle/>
          <a:p>
            <a:pPr algn="r">
              <a:spcAft>
                <a:spcPts val="0"/>
              </a:spcAft>
            </a:pPr>
            <a:r>
              <a:rPr sz="1100" b="0" i="0">
                <a:solidFill>
                  <a:srgbClr val="5D687A"/>
                </a:solidFill>
                <a:latin typeface="Calibri"/>
              </a:rPr>
              <a:t>21</a:t>
            </a:r>
          </a:p>
        </p:txBody>
      </p:sp>
      <p:sp>
        <p:nvSpPr>
          <p:cNvPr id="6" name="Hàng"/>
          <p:cNvSpPr/>
          <p:nvPr/>
        </p:nvSpPr>
        <p:spPr>
          <a:xfrm>
            <a:off x="548640" y="153619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3619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1</a:t>
            </a:r>
          </a:p>
        </p:txBody>
      </p:sp>
      <p:sp>
        <p:nvSpPr>
          <p:cNvPr id="8" name="TextBox 7"/>
          <p:cNvSpPr txBox="1"/>
          <p:nvPr/>
        </p:nvSpPr>
        <p:spPr>
          <a:xfrm>
            <a:off x="1463040" y="153619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Kết nối Trung ương?</a:t>
            </a:r>
            <a:r>
              <a:rPr sz="1700" b="0" i="0">
                <a:solidFill>
                  <a:srgbClr val="17233A"/>
                </a:solidFill>
                <a:latin typeface="Calibri"/>
              </a:rPr>
              <a:t> Đề xuất: cấp 3, thiết kế sẵn để kết nối; chỉ dùng nội bộ thì cấp 2 đủ về pháp lý.</a:t>
            </a:r>
          </a:p>
        </p:txBody>
      </p:sp>
      <p:sp>
        <p:nvSpPr>
          <p:cNvPr id="9" name="Hàng"/>
          <p:cNvSpPr/>
          <p:nvPr/>
        </p:nvSpPr>
        <p:spPr>
          <a:xfrm>
            <a:off x="548640" y="235915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5915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2</a:t>
            </a:r>
          </a:p>
        </p:txBody>
      </p:sp>
      <p:sp>
        <p:nvSpPr>
          <p:cNvPr id="11" name="TextBox 10"/>
          <p:cNvSpPr txBox="1"/>
          <p:nvPr/>
        </p:nvSpPr>
        <p:spPr>
          <a:xfrm>
            <a:off x="1463040" y="235915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Hạ tầng.</a:t>
            </a:r>
            <a:r>
              <a:rPr sz="1700" b="0" i="0">
                <a:solidFill>
                  <a:srgbClr val="17233A"/>
                </a:solidFill>
                <a:latin typeface="Calibri"/>
              </a:rPr>
              <a:t> Đề xuất: trung tâm dữ liệu cơ quan Đảng, kho tệp nội bộ, không dùng đám mây ngoài.</a:t>
            </a:r>
          </a:p>
        </p:txBody>
      </p:sp>
      <p:sp>
        <p:nvSpPr>
          <p:cNvPr id="12" name="Hàng"/>
          <p:cNvSpPr/>
          <p:nvPr/>
        </p:nvSpPr>
        <p:spPr>
          <a:xfrm>
            <a:off x="548640" y="318211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8211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3</a:t>
            </a:r>
          </a:p>
        </p:txBody>
      </p:sp>
      <p:sp>
        <p:nvSpPr>
          <p:cNvPr id="14" name="TextBox 13"/>
          <p:cNvSpPr txBox="1"/>
          <p:nvPr/>
        </p:nvSpPr>
        <p:spPr>
          <a:xfrm>
            <a:off x="1463040" y="318211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Chuyên trách và đầu mối.</a:t>
            </a:r>
            <a:r>
              <a:rPr sz="1700" b="0" i="0">
                <a:solidFill>
                  <a:srgbClr val="17233A"/>
                </a:solidFill>
                <a:latin typeface="Calibri"/>
              </a:rPr>
              <a:t> Đề xuất: Văn phòng Ban vận hành, đơn vị chuyên trách thẩm định, Trưởng ban phê duyệt.</a:t>
            </a:r>
          </a:p>
        </p:txBody>
      </p:sp>
      <p:sp>
        <p:nvSpPr>
          <p:cNvPr id="15" name="Hàng"/>
          <p:cNvSpPr/>
          <p:nvPr/>
        </p:nvSpPr>
        <p:spPr>
          <a:xfrm>
            <a:off x="548640" y="400507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0507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4</a:t>
            </a:r>
          </a:p>
        </p:txBody>
      </p:sp>
      <p:sp>
        <p:nvSpPr>
          <p:cNvPr id="17" name="TextBox 16"/>
          <p:cNvSpPr txBox="1"/>
          <p:nvPr/>
        </p:nvSpPr>
        <p:spPr>
          <a:xfrm>
            <a:off x="1463040" y="400507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Thời hạn lưu.</a:t>
            </a:r>
            <a:r>
              <a:rPr sz="1700" b="0" i="0">
                <a:solidFill>
                  <a:srgbClr val="17233A"/>
                </a:solidFill>
                <a:latin typeface="Calibri"/>
              </a:rPr>
              <a:t> Đề xuất: hồ sơ theo quy định lưu trữ hồ sơ cán bộ; nhật ký tối thiểu 3 năm.</a:t>
            </a:r>
          </a:p>
        </p:txBody>
      </p:sp>
      <p:sp>
        <p:nvSpPr>
          <p:cNvPr id="18" name="Hàng"/>
          <p:cNvSpPr/>
          <p:nvPr/>
        </p:nvSpPr>
        <p:spPr>
          <a:xfrm>
            <a:off x="548640" y="4828032"/>
            <a:ext cx="11094415" cy="713232"/>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28032"/>
            <a:ext cx="548640" cy="713232"/>
          </a:xfrm>
          <a:prstGeom prst="rect">
            <a:avLst/>
          </a:prstGeom>
          <a:noFill/>
        </p:spPr>
        <p:txBody>
          <a:bodyPr wrap="square" anchor="ctr" lIns="0" rIns="0" tIns="0" bIns="0">
            <a:spAutoFit/>
          </a:bodyPr>
          <a:lstStyle/>
          <a:p>
            <a:pPr algn="l">
              <a:spcAft>
                <a:spcPts val="0"/>
              </a:spcAft>
            </a:pPr>
            <a:r>
              <a:rPr sz="2800" b="1" i="0">
                <a:solidFill>
                  <a:srgbClr val="A4262C"/>
                </a:solidFill>
                <a:latin typeface="Cambria"/>
              </a:rPr>
              <a:t>5</a:t>
            </a:r>
          </a:p>
        </p:txBody>
      </p:sp>
      <p:sp>
        <p:nvSpPr>
          <p:cNvPr id="20" name="TextBox 19"/>
          <p:cNvSpPr txBox="1"/>
          <p:nvPr/>
        </p:nvSpPr>
        <p:spPr>
          <a:xfrm>
            <a:off x="1463040" y="4828032"/>
            <a:ext cx="9905695" cy="713232"/>
          </a:xfrm>
          <a:prstGeom prst="rect">
            <a:avLst/>
          </a:prstGeom>
          <a:noFill/>
        </p:spPr>
        <p:txBody>
          <a:bodyPr wrap="square" anchor="ctr" lIns="0" rIns="0" tIns="0" bIns="0">
            <a:spAutoFit/>
          </a:bodyPr>
          <a:lstStyle/>
          <a:p>
            <a:pPr algn="l">
              <a:spcAft>
                <a:spcPts val="0"/>
              </a:spcAft>
            </a:pPr>
            <a:r>
              <a:rPr sz="1700" b="1" i="0">
                <a:solidFill>
                  <a:srgbClr val="17233A"/>
                </a:solidFill>
                <a:latin typeface="Calibri"/>
              </a:rPr>
              <a:t>Xác thực nhiều lớp.</a:t>
            </a:r>
            <a:r>
              <a:rPr sz="1700" b="0" i="0">
                <a:solidFill>
                  <a:srgbClr val="17233A"/>
                </a:solidFill>
                <a:latin typeface="Calibri"/>
              </a:rPr>
              <a:t> Đề xuất: mã đã cài (TOTP); bật bắt buộc cho quản trị và đại diện Ban Thường vụ trước khi vận hành thật.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33A"/>
        </a:solidFill>
        <a:effectLst/>
      </p:bgPr>
    </p:bg>
    <p:spTree>
      <p:nvGrpSpPr>
        <p:cNvPr id="1" name=""/>
        <p:cNvGrpSpPr/>
        <p:nvPr/>
      </p:nvGrpSpPr>
      <p:grpSpPr/>
      <p:sp>
        <p:nvSpPr>
          <p:cNvPr id="2" name="TextBox 1"/>
          <p:cNvSpPr txBox="1"/>
          <p:nvPr/>
        </p:nvSpPr>
        <p:spPr>
          <a:xfrm>
            <a:off x="548640" y="822960"/>
            <a:ext cx="11094415" cy="365760"/>
          </a:xfrm>
          <a:prstGeom prst="rect">
            <a:avLst/>
          </a:prstGeom>
          <a:noFill/>
        </p:spPr>
        <p:txBody>
          <a:bodyPr wrap="square" anchor="t" lIns="0" rIns="0" tIns="0" bIns="0">
            <a:spAutoFit/>
          </a:bodyPr>
          <a:lstStyle/>
          <a:p>
            <a:pPr algn="l">
              <a:spcAft>
                <a:spcPts val="0"/>
              </a:spcAft>
            </a:pPr>
            <a:r>
              <a:rPr sz="1700" b="1" i="0">
                <a:solidFill>
                  <a:srgbClr val="E3B04B"/>
                </a:solidFill>
                <a:latin typeface="Calibri"/>
              </a:rPr>
              <a:t>KẾT LUẬN</a:t>
            </a:r>
          </a:p>
        </p:txBody>
      </p:sp>
      <p:sp>
        <p:nvSpPr>
          <p:cNvPr id="3" name="Tiêu đề"/>
          <p:cNvSpPr txBox="1"/>
          <p:nvPr/>
        </p:nvSpPr>
        <p:spPr>
          <a:xfrm>
            <a:off x="548640" y="1280160"/>
            <a:ext cx="10515600" cy="1645920"/>
          </a:xfrm>
          <a:prstGeom prst="rect">
            <a:avLst/>
          </a:prstGeom>
          <a:noFill/>
        </p:spPr>
        <p:txBody>
          <a:bodyPr wrap="square" anchor="t" lIns="0" rIns="0" tIns="0" bIns="0">
            <a:spAutoFit/>
          </a:bodyPr>
          <a:lstStyle/>
          <a:p>
            <a:pPr algn="l">
              <a:spcAft>
                <a:spcPts val="0"/>
              </a:spcAft>
            </a:pPr>
            <a:r>
              <a:rPr sz="4000" b="1" i="0">
                <a:solidFill>
                  <a:srgbClr val="F6F4EE"/>
                </a:solidFill>
                <a:latin typeface="Cambria"/>
              </a:rPr>
              <a:t>Điểm tính theo Nghị định 335, hệ thống đề xuất cấp độ 3</a:t>
            </a:r>
          </a:p>
        </p:txBody>
      </p:sp>
      <p:sp>
        <p:nvSpPr>
          <p:cNvPr id="4" name="Thẻ"/>
          <p:cNvSpPr/>
          <p:nvPr/>
        </p:nvSpPr>
        <p:spPr>
          <a:xfrm>
            <a:off x="548640" y="3108960"/>
            <a:ext cx="5364327" cy="1737360"/>
          </a:xfrm>
          <a:prstGeom prst="roundRect">
            <a:avLst>
              <a:gd name="adj" fmla="val 6000"/>
            </a:avLst>
          </a:prstGeom>
          <a:solidFill>
            <a:srgbClr val="22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3337560"/>
            <a:ext cx="4907127" cy="299719"/>
          </a:xfrm>
          <a:prstGeom prst="rect">
            <a:avLst/>
          </a:prstGeom>
          <a:noFill/>
        </p:spPr>
        <p:txBody>
          <a:bodyPr wrap="square" anchor="t" lIns="0" rIns="0" tIns="0" bIns="0">
            <a:spAutoFit/>
          </a:bodyPr>
          <a:lstStyle/>
          <a:p>
            <a:pPr algn="l">
              <a:spcAft>
                <a:spcPts val="0"/>
              </a:spcAft>
            </a:pPr>
            <a:r>
              <a:rPr sz="2000" b="1" i="0">
                <a:solidFill>
                  <a:srgbClr val="E3B04B"/>
                </a:solidFill>
                <a:latin typeface="Calibri"/>
              </a:rPr>
              <a:t>Yêu cầu 1</a:t>
            </a:r>
          </a:p>
        </p:txBody>
      </p:sp>
      <p:sp>
        <p:nvSpPr>
          <p:cNvPr id="6" name="Nội dung thẻ"/>
          <p:cNvSpPr txBox="1"/>
          <p:nvPr/>
        </p:nvSpPr>
        <p:spPr>
          <a:xfrm>
            <a:off x="777240" y="3728719"/>
            <a:ext cx="4907127" cy="934720"/>
          </a:xfrm>
          <a:prstGeom prst="rect">
            <a:avLst/>
          </a:prstGeom>
          <a:noFill/>
        </p:spPr>
        <p:txBody>
          <a:bodyPr wrap="square" anchor="t" lIns="0" rIns="0" tIns="0" bIns="0">
            <a:spAutoFit/>
          </a:bodyPr>
          <a:lstStyle/>
          <a:p>
            <a:pPr algn="l">
              <a:spcAft>
                <a:spcPts val="600"/>
              </a:spcAft>
            </a:pPr>
            <a:r>
              <a:rPr sz="1800" b="0" i="0">
                <a:solidFill>
                  <a:srgbClr val="DCE4EE"/>
                </a:solidFill>
                <a:latin typeface="Calibri"/>
              </a:rPr>
              <a:t>Bộ tiêu chí có căn cứ, công thức, ví dụ, xếp loại và quy trình; phần chưa có văn bản đã ghi rõ là đề xuất.</a:t>
            </a:r>
          </a:p>
        </p:txBody>
      </p:sp>
      <p:sp>
        <p:nvSpPr>
          <p:cNvPr id="7" name="Thẻ"/>
          <p:cNvSpPr/>
          <p:nvPr/>
        </p:nvSpPr>
        <p:spPr>
          <a:xfrm>
            <a:off x="6278727" y="3108960"/>
            <a:ext cx="5364327" cy="1737360"/>
          </a:xfrm>
          <a:prstGeom prst="roundRect">
            <a:avLst>
              <a:gd name="adj" fmla="val 6000"/>
            </a:avLst>
          </a:prstGeom>
          <a:solidFill>
            <a:srgbClr val="22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7327" y="3337560"/>
            <a:ext cx="4907127" cy="299719"/>
          </a:xfrm>
          <a:prstGeom prst="rect">
            <a:avLst/>
          </a:prstGeom>
          <a:noFill/>
        </p:spPr>
        <p:txBody>
          <a:bodyPr wrap="square" anchor="t" lIns="0" rIns="0" tIns="0" bIns="0">
            <a:spAutoFit/>
          </a:bodyPr>
          <a:lstStyle/>
          <a:p>
            <a:pPr algn="l">
              <a:spcAft>
                <a:spcPts val="0"/>
              </a:spcAft>
            </a:pPr>
            <a:r>
              <a:rPr sz="2000" b="1" i="0">
                <a:solidFill>
                  <a:srgbClr val="E3B04B"/>
                </a:solidFill>
                <a:latin typeface="Calibri"/>
              </a:rPr>
              <a:t>Yêu cầu 3</a:t>
            </a:r>
          </a:p>
        </p:txBody>
      </p:sp>
      <p:sp>
        <p:nvSpPr>
          <p:cNvPr id="9" name="Nội dung thẻ"/>
          <p:cNvSpPr txBox="1"/>
          <p:nvPr/>
        </p:nvSpPr>
        <p:spPr>
          <a:xfrm>
            <a:off x="6507327" y="3728719"/>
            <a:ext cx="4907127" cy="934720"/>
          </a:xfrm>
          <a:prstGeom prst="rect">
            <a:avLst/>
          </a:prstGeom>
          <a:noFill/>
        </p:spPr>
        <p:txBody>
          <a:bodyPr wrap="square" anchor="t" lIns="0" rIns="0" tIns="0" bIns="0">
            <a:spAutoFit/>
          </a:bodyPr>
          <a:lstStyle/>
          <a:p>
            <a:pPr algn="l">
              <a:spcAft>
                <a:spcPts val="600"/>
              </a:spcAft>
            </a:pPr>
            <a:r>
              <a:rPr sz="1800" b="0" i="0">
                <a:solidFill>
                  <a:srgbClr val="DCE4EE"/>
                </a:solidFill>
                <a:latin typeface="Calibri"/>
              </a:rPr>
              <a:t>Cấp độ 3, với điều kiện không xử lý bí mật nhà nước; lộ trình tám việc trước khi vận hành.</a:t>
            </a:r>
          </a:p>
        </p:txBody>
      </p:sp>
      <p:sp>
        <p:nvSpPr>
          <p:cNvPr id="10" name="TextBox 9"/>
          <p:cNvSpPr txBox="1"/>
          <p:nvPr/>
        </p:nvSpPr>
        <p:spPr>
          <a:xfrm>
            <a:off x="548640" y="5120640"/>
            <a:ext cx="11094415" cy="822960"/>
          </a:xfrm>
          <a:prstGeom prst="rect">
            <a:avLst/>
          </a:prstGeom>
          <a:noFill/>
        </p:spPr>
        <p:txBody>
          <a:bodyPr wrap="square" anchor="t" lIns="0" rIns="0" tIns="0" bIns="0">
            <a:spAutoFit/>
          </a:bodyPr>
          <a:lstStyle/>
          <a:p>
            <a:pPr algn="l">
              <a:spcAft>
                <a:spcPts val="0"/>
              </a:spcAft>
            </a:pPr>
            <a:r>
              <a:rPr sz="1600" b="0" i="0">
                <a:solidFill>
                  <a:srgbClr val="C9D1DD"/>
                </a:solidFill>
                <a:latin typeface="Calibri"/>
              </a:rPr>
              <a:t>Tiếp theo: Ban xác nhận các điểm cần quyết định ở hai phần, để hoàn thiện phần chấm điểm theo OKR và hồ sơ đề xuất cấp độ.</a:t>
            </a:r>
          </a:p>
        </p:txBody>
      </p:sp>
      <p:sp>
        <p:nvSpPr>
          <p:cNvPr id="11" name="TextBox 10"/>
          <p:cNvSpPr txBox="1"/>
          <p:nvPr/>
        </p:nvSpPr>
        <p:spPr>
          <a:xfrm>
            <a:off x="548640" y="6382512"/>
            <a:ext cx="11094415" cy="274320"/>
          </a:xfrm>
          <a:prstGeom prst="rect">
            <a:avLst/>
          </a:prstGeom>
          <a:noFill/>
        </p:spPr>
        <p:txBody>
          <a:bodyPr wrap="square" anchor="t" lIns="0" rIns="0" tIns="0" bIns="0">
            <a:spAutoFit/>
          </a:bodyPr>
          <a:lstStyle/>
          <a:p>
            <a:pPr algn="l">
              <a:spcAft>
                <a:spcPts val="0"/>
              </a:spcAft>
            </a:pPr>
            <a:r>
              <a:rPr sz="1100" b="0" i="0">
                <a:solidFill>
                  <a:srgbClr val="9FB0C7"/>
                </a:solidFill>
                <a:latin typeface="Calibri"/>
              </a:rPr>
              <a:t>Văn bản đầy đủ: văn bản trả lời, bộ tiêu chí, phương án an toàn thông tin, BRD và SRS trong thư mục hồ sơ nộp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quản lý, đánh giá kết quả thực hiện nhiệm vụ bằng KPI/OKR</dc:title>
  <dc:subject/>
  <dc:creator>Trịnh Hữu Tuấn</dc:creator>
  <cp:keywords/>
  <dc:description>generated using python-pptx</dc:description>
  <cp:lastModifiedBy>TRỊNH HỮU TUẤN</cp:lastModifiedBy>
  <cp:revision>1</cp:revision>
  <dcterms:created xsi:type="dcterms:W3CDTF">2013-01-27T09:14:16Z</dcterms:created>
  <dcterms:modified xsi:type="dcterms:W3CDTF">2013-01-27T09:15:58Z</dcterms:modified>
  <cp:category/>
</cp:coreProperties>
</file>